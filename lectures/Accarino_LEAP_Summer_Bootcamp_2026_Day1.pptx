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375" r:id="rId4"/>
    <p:sldId id="305" r:id="rId5"/>
    <p:sldId id="258" r:id="rId6"/>
    <p:sldId id="260" r:id="rId7"/>
    <p:sldId id="259" r:id="rId8"/>
    <p:sldId id="261" r:id="rId9"/>
    <p:sldId id="262" r:id="rId10"/>
    <p:sldId id="263" r:id="rId11"/>
    <p:sldId id="310" r:id="rId12"/>
    <p:sldId id="266" r:id="rId13"/>
    <p:sldId id="306" r:id="rId14"/>
    <p:sldId id="307" r:id="rId15"/>
    <p:sldId id="308" r:id="rId16"/>
    <p:sldId id="309" r:id="rId17"/>
    <p:sldId id="312" r:id="rId18"/>
    <p:sldId id="314" r:id="rId19"/>
    <p:sldId id="267" r:id="rId20"/>
    <p:sldId id="316" r:id="rId21"/>
    <p:sldId id="336" r:id="rId22"/>
    <p:sldId id="318" r:id="rId23"/>
    <p:sldId id="319" r:id="rId24"/>
    <p:sldId id="320" r:id="rId25"/>
    <p:sldId id="335" r:id="rId26"/>
    <p:sldId id="322" r:id="rId27"/>
    <p:sldId id="269" r:id="rId28"/>
    <p:sldId id="268" r:id="rId29"/>
    <p:sldId id="323" r:id="rId30"/>
    <p:sldId id="327" r:id="rId31"/>
    <p:sldId id="331" r:id="rId32"/>
    <p:sldId id="333" r:id="rId33"/>
    <p:sldId id="334" r:id="rId34"/>
    <p:sldId id="270" r:id="rId35"/>
    <p:sldId id="337" r:id="rId36"/>
    <p:sldId id="338" r:id="rId37"/>
    <p:sldId id="271" r:id="rId38"/>
    <p:sldId id="339" r:id="rId39"/>
    <p:sldId id="370" r:id="rId40"/>
    <p:sldId id="371" r:id="rId41"/>
    <p:sldId id="277" r:id="rId42"/>
    <p:sldId id="278" r:id="rId43"/>
    <p:sldId id="351" r:id="rId44"/>
    <p:sldId id="279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283" r:id="rId54"/>
    <p:sldId id="361" r:id="rId55"/>
    <p:sldId id="362" r:id="rId56"/>
    <p:sldId id="363" r:id="rId57"/>
    <p:sldId id="364" r:id="rId58"/>
    <p:sldId id="365" r:id="rId59"/>
    <p:sldId id="366" r:id="rId60"/>
    <p:sldId id="367" r:id="rId61"/>
    <p:sldId id="285" r:id="rId62"/>
    <p:sldId id="368" r:id="rId63"/>
    <p:sldId id="369" r:id="rId64"/>
    <p:sldId id="290" r:id="rId65"/>
    <p:sldId id="291" r:id="rId66"/>
    <p:sldId id="292" r:id="rId67"/>
    <p:sldId id="293" r:id="rId68"/>
    <p:sldId id="372" r:id="rId69"/>
    <p:sldId id="294" r:id="rId70"/>
    <p:sldId id="295" r:id="rId71"/>
    <p:sldId id="296" r:id="rId72"/>
    <p:sldId id="303" r:id="rId7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1E2760"/>
    <a:srgbClr val="B1C4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8"/>
    <p:restoredTop sz="94583"/>
  </p:normalViewPr>
  <p:slideViewPr>
    <p:cSldViewPr snapToGrid="0" snapToObjects="1">
      <p:cViewPr varScale="1">
        <p:scale>
          <a:sx n="143" d="100"/>
          <a:sy n="143" d="100"/>
        </p:scale>
        <p:origin x="9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07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6865-BB7F-353A-5A66-27243F760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6E85A-BEF6-22FF-D999-D532100B6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94676-4232-C6F9-7A74-E465AF8E5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E4E70-8BFD-FC53-C8B4-2CDFE81B4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89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A18B-D276-724E-A904-7F9E0161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42643-5EB2-C380-EBC5-BC875F3A3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A4F7E-373F-91F9-0EB2-C25F51FF9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881CB-8F6D-62C5-BBB2-8CB307B36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86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4103C-0837-5B09-2E6E-2C5C83D2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40A64-9BAF-30FE-F643-64A244850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E4E5B-F823-8C40-A8C2-AFBB234D3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041AB-4686-1AA6-A4E6-D56DBCDA1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09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9DE6-3AAD-AD96-7C74-BD7C0CDA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75B2F-B368-932C-7805-79364EEF6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48A85-B011-8BA2-5D3B-59525D7C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8A546-3021-BF96-B2D7-EE2A5C0DA3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03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2a5d43a5f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g362a5d43a5f_0_1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65" name="Google Shape;165;g362a5d43a5f_0_1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2a5d43a5f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6" name="Google Shape;176;g362a5d43a5f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77" name="Google Shape;177;g362a5d43a5f_0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2a5d43a5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0" name="Google Shape;190;g362a5d43a5f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91" name="Google Shape;191;g362a5d43a5f_0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9CF1-03D2-B3DC-0C9C-8578A5DB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6C7B0-9EA7-B4DB-5316-73F3DD999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C0234-E533-F04B-21D7-4B8F5DDCD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7246B-EE94-D004-94F0-B6109DA6E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6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2a5d43a5f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g362a5d43a5f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6" name="Google Shape;236;g362a5d43a5f_0_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2a5d43a5f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8" name="Google Shape;258;g362a5d43a5f_0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259" name="Google Shape;259;g362a5d43a5f_0_2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AA098DA-5448-3242-8DA1-64142ABB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2a5d43a5f_0_250:notes">
            <a:extLst>
              <a:ext uri="{FF2B5EF4-FFF2-40B4-BE49-F238E27FC236}">
                <a16:creationId xmlns:a16="http://schemas.microsoft.com/office/drawing/2014/main" id="{D93BC460-EAB3-73C3-FF52-5B95C02EC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8" name="Google Shape;258;g362a5d43a5f_0_250:notes">
            <a:extLst>
              <a:ext uri="{FF2B5EF4-FFF2-40B4-BE49-F238E27FC236}">
                <a16:creationId xmlns:a16="http://schemas.microsoft.com/office/drawing/2014/main" id="{0E765048-74F2-58A4-47A9-22B21275F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259" name="Google Shape;259;g362a5d43a5f_0_250:notes">
            <a:extLst>
              <a:ext uri="{FF2B5EF4-FFF2-40B4-BE49-F238E27FC236}">
                <a16:creationId xmlns:a16="http://schemas.microsoft.com/office/drawing/2014/main" id="{593144D5-2B7E-F02E-7ADD-28134D19CD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85613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2a5d43a5f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g362a5d43a5f_0_2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280" name="Google Shape;280;g362a5d43a5f_0_2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2a5d43a5f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0" name="Google Shape;290;g362a5d43a5f_0_2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291" name="Google Shape;291;g362a5d43a5f_0_2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2a5d43a5f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9" name="Google Shape;299;g362a5d43a5f_0_2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300" name="Google Shape;300;g362a5d43a5f_0_2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97B7-9A9F-7E89-71F2-6921FAEA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3B8B7-E7FF-B921-2E7D-E9D425A27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A4213-840A-B5F3-B8E7-7A18FCC47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17F02-CBA4-075C-1006-18E154CA6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331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c5bba06b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1" name="Google Shape;311;g36c5bba06b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312" name="Google Shape;312;g36c5bba06b4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c5bba06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3" name="Google Shape;323;g36c5bba06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2c7e3772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5" name="Google Shape;375;g362c7e37727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>
                <a:solidFill>
                  <a:schemeClr val="dk1"/>
                </a:solidFill>
              </a:rPr>
              <a:t>\</a:t>
            </a:r>
            <a:r>
              <a:rPr lang="it-IT" sz="900" dirty="0" err="1">
                <a:solidFill>
                  <a:schemeClr val="dk1"/>
                </a:solidFill>
              </a:rPr>
              <a:t>theta_j</a:t>
            </a:r>
            <a:r>
              <a:rPr lang="it-IT" sz="900" dirty="0">
                <a:solidFill>
                  <a:schemeClr val="dk1"/>
                </a:solidFill>
              </a:rPr>
              <a:t> := \</a:t>
            </a:r>
            <a:r>
              <a:rPr lang="it-IT" sz="900" dirty="0" err="1">
                <a:solidFill>
                  <a:schemeClr val="dk1"/>
                </a:solidFill>
              </a:rPr>
              <a:t>theta_j</a:t>
            </a:r>
            <a:r>
              <a:rPr lang="it-IT" sz="900" dirty="0">
                <a:solidFill>
                  <a:schemeClr val="dk1"/>
                </a:solidFill>
              </a:rPr>
              <a:t> - \alpha \frac{\</a:t>
            </a:r>
            <a:r>
              <a:rPr lang="it-IT" sz="900" dirty="0" err="1">
                <a:solidFill>
                  <a:schemeClr val="dk1"/>
                </a:solidFill>
              </a:rPr>
              <a:t>partial</a:t>
            </a:r>
            <a:r>
              <a:rPr lang="it-IT" sz="900" dirty="0">
                <a:solidFill>
                  <a:schemeClr val="dk1"/>
                </a:solidFill>
              </a:rPr>
              <a:t> </a:t>
            </a: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(\theta_0, \theta_1)}{\</a:t>
            </a:r>
            <a:r>
              <a:rPr lang="it-IT" sz="900" dirty="0" err="1">
                <a:solidFill>
                  <a:schemeClr val="dk1"/>
                </a:solidFill>
              </a:rPr>
              <a:t>partial</a:t>
            </a:r>
            <a:r>
              <a:rPr lang="it-IT" sz="900" dirty="0">
                <a:solidFill>
                  <a:schemeClr val="dk1"/>
                </a:solidFill>
              </a:rPr>
              <a:t> \</a:t>
            </a:r>
            <a:r>
              <a:rPr lang="it-IT" sz="900" dirty="0" err="1">
                <a:solidFill>
                  <a:schemeClr val="dk1"/>
                </a:solidFill>
              </a:rPr>
              <a:t>theta_j</a:t>
            </a:r>
            <a:r>
              <a:rPr lang="it-IT" sz="900" dirty="0">
                <a:solidFill>
                  <a:schemeClr val="dk1"/>
                </a:solidFill>
              </a:rPr>
              <a:t>}</a:t>
            </a:r>
            <a:endParaRPr sz="900" dirty="0">
              <a:solidFill>
                <a:schemeClr val="dk1"/>
              </a:solidFill>
            </a:endParaRPr>
          </a:p>
        </p:txBody>
      </p:sp>
      <p:sp>
        <p:nvSpPr>
          <p:cNvPr id="376" name="Google Shape;376;g362c7e37727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62c7e3772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2" name="Google Shape;422;g362c7e37727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423" name="Google Shape;423;g362c7e37727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62c7e37727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2" name="Google Shape;442;g362c7e37727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443" name="Google Shape;443;g362c7e37727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2c7e3772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0" name="Google Shape;450;g362c7e37727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900" dirty="0" err="1">
                <a:solidFill>
                  <a:schemeClr val="dk1"/>
                </a:solidFill>
              </a:rPr>
              <a:t>J</a:t>
            </a:r>
            <a:r>
              <a:rPr lang="it-IT" sz="900" dirty="0">
                <a:solidFill>
                  <a:schemeClr val="dk1"/>
                </a:solidFill>
              </a:rPr>
              <a:t>(\theta_{0}, \theta_{1}) = \frac{1}{2m}\sum_{i=1}^{m} (h_{\theta}(x^{(i)}) - y^{(i)})^2</a:t>
            </a:r>
            <a:endParaRPr dirty="0"/>
          </a:p>
        </p:txBody>
      </p:sp>
      <p:sp>
        <p:nvSpPr>
          <p:cNvPr id="451" name="Google Shape;451;g362c7e37727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F5F10-C2A1-CB5D-1C55-1E9BCBD4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02DE9-7663-CDA8-2968-DA81A943A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9CAFC-127A-7021-62BB-676E72A93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F8A4E-B511-D8B9-BD10-EFA6A1E95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35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d8158140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9" name="Google Shape;149;g36d81581404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50" name="Google Shape;150;g36d81581404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4a2590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3" name="Google Shape;213;g344a2590ea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14" name="Google Shape;214;g344a2590ea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9447C4C7-5583-B397-17D3-C512ECC4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4a2590ea4_0_0:notes">
            <a:extLst>
              <a:ext uri="{FF2B5EF4-FFF2-40B4-BE49-F238E27FC236}">
                <a16:creationId xmlns:a16="http://schemas.microsoft.com/office/drawing/2014/main" id="{BA026B0A-D1E6-C036-E748-AEB37F67C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3" name="Google Shape;213;g344a2590ea4_0_0:notes">
            <a:extLst>
              <a:ext uri="{FF2B5EF4-FFF2-40B4-BE49-F238E27FC236}">
                <a16:creationId xmlns:a16="http://schemas.microsoft.com/office/drawing/2014/main" id="{9B94283B-61A0-5814-01B7-97A532341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14" name="Google Shape;214;g344a2590ea4_0_0:notes">
            <a:extLst>
              <a:ext uri="{FF2B5EF4-FFF2-40B4-BE49-F238E27FC236}">
                <a16:creationId xmlns:a16="http://schemas.microsoft.com/office/drawing/2014/main" id="{7ECE5494-39E5-5A59-A40D-A9E5C22BAD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9452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D869A555-F1CD-285F-7B7E-678F3ECB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4a2590ea4_0_0:notes">
            <a:extLst>
              <a:ext uri="{FF2B5EF4-FFF2-40B4-BE49-F238E27FC236}">
                <a16:creationId xmlns:a16="http://schemas.microsoft.com/office/drawing/2014/main" id="{7BFEC7F7-C9D0-7250-B0D5-67A59C75B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3" name="Google Shape;213;g344a2590ea4_0_0:notes">
            <a:extLst>
              <a:ext uri="{FF2B5EF4-FFF2-40B4-BE49-F238E27FC236}">
                <a16:creationId xmlns:a16="http://schemas.microsoft.com/office/drawing/2014/main" id="{26AA5CC7-6E55-C26A-05B9-FB5B9646BB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14" name="Google Shape;214;g344a2590ea4_0_0:notes">
            <a:extLst>
              <a:ext uri="{FF2B5EF4-FFF2-40B4-BE49-F238E27FC236}">
                <a16:creationId xmlns:a16="http://schemas.microsoft.com/office/drawing/2014/main" id="{D468ABDC-B72F-45CF-3B10-F9FBC911CE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18055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BDFB0-ECE6-6506-DF6D-1C727C53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DBF3A-A3A3-4418-39E0-32FE04FB1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AB096-5765-C539-48CC-7C8AF5164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16CAF-58B5-AAB0-00D4-A463CE621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323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4014-1424-70D3-C06F-7D29F7F9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7DDCE-1226-221F-78CF-624E9E8C0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7E39D-B9BC-BDDA-2D3B-8B0C1294B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BB47D-26E9-E9DA-EDD7-2DA3784C1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630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0FBB-D1A2-90DA-AC32-AC4AD675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EEA0C-94AC-1BD6-8B72-55CEF6D43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0A703-5999-0190-895F-66DBC8D07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12DC-69EE-D524-CF8F-F3644E527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592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2BB2-E3CD-FFB9-27A8-4DF71893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769E9-3EBD-5699-0F14-A1D1B5EA2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17940-F5D0-CFB8-BEAD-3CFBE21FA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CA37A-719F-A5C7-D2DF-0A74C55F9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801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3102-6B2C-26A5-BFE3-298130A4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3052F-2072-D787-E5CF-8AAD6ADE0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05CB9-291B-2088-9C19-52836EBEB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EBC9E-9D50-5750-B529-AD8E085F1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772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5985-BC0E-04D2-0EC0-D81AAC52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8596E-174C-AC0F-74B9-6113553BD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E14BE-0123-7FB8-3530-20282EF8C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2FC6A-6A00-6BC0-024F-3127BBCD5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685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819CA-FF89-ADC4-9DEC-6A18D1CCA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8C802-69EE-EF74-828A-42D0E01CA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7EBED-8FE2-6506-337B-876C1521C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E8B1F-CF7A-AB9D-27F5-BB8D20A11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389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825B-1B8A-9692-23F0-08D77294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06107-1A3C-05CB-41A9-C46633F61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E90C4-F827-F2D2-7FCF-8DBB97811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E50BF-99E9-7853-B5DE-D6E8534EF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034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2BE3-4447-0521-E9EE-409BC8A8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EC94-39CC-18CD-AACA-98A2AFD58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A8D54-5AC7-65A1-7F5C-CC8548FA6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FE7B7-18DB-8B14-A617-906DD7449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2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879A-87E9-122F-E7F7-9D18FC2A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C870E-A982-22F3-D96A-D076DCDCB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E9659-B9CD-3D7D-AC5E-B7AB1815B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90E9C-764F-919D-AE87-5A6032B27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551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85F33-850B-BEB3-E3B3-B2CC021C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3E6BC-0591-571C-9720-84E6F83FA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B464E-A6B4-F236-BE19-D028E0608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8819E-812C-2A37-9524-EF0950FB4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066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A1B7-132F-2C38-6D34-5B82D103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52CF9-F123-AFFF-F4B2-4DE0753AB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46921-BB4F-DCC2-81B3-E1C2B1D4E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D3799-0E15-35D7-9813-7CCCA0A1E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625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B8FB-FA44-FADF-834F-0DBBFD50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73FA9-1D56-C945-8A50-A5CC01EA1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D5E93-287B-31D8-CA10-A1C003699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53503-2A66-CECE-F576-93F2408A0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565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648A-DB50-358D-9732-2DA67029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16DF5-56E7-9A76-D77C-A77DBEDD7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1E546-0806-9ED3-FE55-B7E46AE8A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2D908-EFFB-B805-3C03-163393760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366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A65A-EC69-A707-011E-EF87F9D6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CB7C4-93BD-9ACD-7F3B-73299A9A8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CA1EE-B21A-C228-D24A-C516C3942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E003F-E8E3-9B8D-BC69-021A2B6F6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948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77F3-771A-5830-DA2B-150260C3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4DF36-1E88-5549-06C9-E1A7922FF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49B4D-A594-6A43-6B9B-D79A9DA65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DE2DA-3B6F-B5D9-2F56-257AD1C3E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040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7610-19A2-5F88-45D8-B4BABDA7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2285D-E8F1-C5E8-FE14-0F627DB72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45528-C5EA-0931-B803-50F68ADD9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10780-4688-37E5-18C1-128802A88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0869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3A4E-E5B7-DB47-FF0B-9A6FF9B3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F17D0-6E69-0D80-35B5-B949E51B4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D4D9C-72A1-67C3-A933-AA02BE00B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A266B-23F8-47A7-AD49-F85EDF5AB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8355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FFADE-F3CE-717A-7A85-EC106426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0BCA3-2F86-6342-0AB9-7D6E1289C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BC1DE-8D22-F06D-FA32-5F09F2043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EF5A1-16D3-4A31-6FD2-976F11379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7846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>
  <p:cSld name="Diapositiva titolo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2a5d43a5f_0_103"/>
          <p:cNvSpPr txBox="1">
            <a:spLocks noGrp="1"/>
          </p:cNvSpPr>
          <p:nvPr>
            <p:ph type="ctrTitle"/>
          </p:nvPr>
        </p:nvSpPr>
        <p:spPr>
          <a:xfrm>
            <a:off x="70658" y="130925"/>
            <a:ext cx="8857125" cy="40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 Black"/>
              <a:buNone/>
              <a:defRPr sz="22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87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mailto:ga2673@columbia.edu" TargetMode="Externa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4" Type="http://schemas.openxmlformats.org/officeDocument/2006/relationships/hyperlink" Target="https://allmodelsarewrong.github.io/ols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4" Type="http://schemas.openxmlformats.org/officeDocument/2006/relationships/hyperlink" Target="https://allmodelsarewrong.github.io/ols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0.png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2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0EBA8E2-C0E7-5745-6D8A-38F05A6BEE4A}"/>
              </a:ext>
            </a:extLst>
          </p:cNvPr>
          <p:cNvGrpSpPr/>
          <p:nvPr/>
        </p:nvGrpSpPr>
        <p:grpSpPr>
          <a:xfrm>
            <a:off x="89647" y="181983"/>
            <a:ext cx="5669280" cy="1691640"/>
            <a:chOff x="3200400" y="1508760"/>
            <a:chExt cx="5669280" cy="1691640"/>
          </a:xfrm>
        </p:grpSpPr>
        <p:sp>
          <p:nvSpPr>
            <p:cNvPr id="2" name="Shape 0"/>
            <p:cNvSpPr/>
            <p:nvPr/>
          </p:nvSpPr>
          <p:spPr>
            <a:xfrm>
              <a:off x="3200400" y="1508760"/>
              <a:ext cx="5669280" cy="1691640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/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337560" y="1554480"/>
              <a:ext cx="5394960" cy="1145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4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INTRODUCTION TO MACHINE</a:t>
              </a:r>
              <a:endParaRPr lang="en-US" sz="2400" noProof="0" dirty="0"/>
            </a:p>
            <a:p>
              <a:pPr marL="0" indent="0" algn="l">
                <a:lnSpc>
                  <a:spcPct val="120000"/>
                </a:lnSpc>
                <a:buNone/>
              </a:pPr>
              <a:r>
                <a:rPr lang="en-US" sz="24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LEARNING AND NEURAL NETWORKS</a:t>
              </a:r>
              <a:endParaRPr lang="en-US" sz="2400" noProof="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337560" y="2767405"/>
              <a:ext cx="5394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noProof="0" dirty="0">
                  <a:solidFill>
                    <a:srgbClr val="2A8C8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LEAP Summer Bootcamp  |  Day 1</a:t>
              </a:r>
              <a:endParaRPr lang="en-US" sz="1500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for the 2</a:t>
            </a:r>
            <a:r>
              <a:rPr lang="en-US" sz="2800" b="1" baseline="30000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</a:t>
            </a: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week of the Bootcamp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B89107-967B-46C9-6929-46C6BB590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26" y="1155093"/>
            <a:ext cx="1460091" cy="146009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68A502-E9E0-C4D3-BD2A-CBBE6B316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108710"/>
            <a:ext cx="1463040" cy="146304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9686C2-F21E-EB7D-E1B4-45CDCB8F40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483" y="1142999"/>
            <a:ext cx="1463040" cy="146304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CE7305-0E21-899A-5EC9-BDB09240B9E2}"/>
              </a:ext>
            </a:extLst>
          </p:cNvPr>
          <p:cNvSpPr txBox="1"/>
          <p:nvPr/>
        </p:nvSpPr>
        <p:spPr>
          <a:xfrm>
            <a:off x="218541" y="2825496"/>
            <a:ext cx="3015859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800" b="1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Gabriele Accarino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sz="1800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Columbia/LEAP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sz="1800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Day 1 &amp; Day 2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Introduction to ML + ANNs</a:t>
            </a:r>
            <a:endParaRPr lang="en-US" sz="1800" noProof="0" dirty="0">
              <a:solidFill>
                <a:srgbClr val="333333"/>
              </a:solidFill>
              <a:latin typeface="Georgia" panose="02040502050405020303" pitchFamily="18" charset="0"/>
              <a:cs typeface="Calibri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46FB2F-C2BF-EDF8-5DC7-E8E8BAD8ADE0}"/>
              </a:ext>
            </a:extLst>
          </p:cNvPr>
          <p:cNvSpPr txBox="1"/>
          <p:nvPr/>
        </p:nvSpPr>
        <p:spPr>
          <a:xfrm>
            <a:off x="3417236" y="2843025"/>
            <a:ext cx="2309527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800" b="1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Matthiew Blanke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sz="1800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NYU/LEAP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sz="1800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Day 3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GenAI</a:t>
            </a:r>
            <a:endParaRPr lang="en-US" sz="1800" noProof="0" dirty="0">
              <a:solidFill>
                <a:srgbClr val="333333"/>
              </a:solidFill>
              <a:latin typeface="Georgia" panose="02040502050405020303" pitchFamily="18" charset="0"/>
              <a:cs typeface="Calibri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75A0C-8016-E3C9-0305-19D426A4B9C1}"/>
              </a:ext>
            </a:extLst>
          </p:cNvPr>
          <p:cNvSpPr txBox="1"/>
          <p:nvPr/>
        </p:nvSpPr>
        <p:spPr>
          <a:xfrm>
            <a:off x="6122894" y="2837936"/>
            <a:ext cx="274678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800" b="1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Viviana Acquaviva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sz="1800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CUNY/Columbia/LEAP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sz="1800" noProof="0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Day 4</a:t>
            </a:r>
          </a:p>
          <a:p>
            <a:pPr algn="ctr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  <a:cs typeface="Calibri" pitchFamily="34" charset="-120"/>
              </a:rPr>
              <a:t>LLMs 4 Science</a:t>
            </a:r>
            <a:endParaRPr lang="en-US" sz="1800" noProof="0" dirty="0">
              <a:solidFill>
                <a:srgbClr val="333333"/>
              </a:solidFill>
              <a:latin typeface="Georgia" panose="02040502050405020303" pitchFamily="18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A21E3-8B94-BC7B-BC51-D5852092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F4ACB9-D22B-4E8D-5A1C-BC7499CC8477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…Just a</a:t>
            </a: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little bit more about me</a:t>
            </a:r>
            <a:endParaRPr lang="en-US" sz="2800" noProof="0" dirty="0"/>
          </a:p>
        </p:txBody>
      </p:sp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5EFF9DAF-FE37-5DE3-450D-0B71A46AF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CEC73737-A2C4-CFFB-0212-31BABCB5ED0C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B5B4E1-B0AE-6C28-A8ED-336DEE1D7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379" y="858832"/>
            <a:ext cx="1535997" cy="153599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86BAE9B7-3D80-DE55-B9D5-11C345162FDF}"/>
              </a:ext>
            </a:extLst>
          </p:cNvPr>
          <p:cNvSpPr/>
          <p:nvPr/>
        </p:nvSpPr>
        <p:spPr>
          <a:xfrm>
            <a:off x="3903232" y="1033418"/>
            <a:ext cx="4966447" cy="3594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2000" b="1" noProof="0" dirty="0">
                <a:solidFill>
                  <a:srgbClr val="1E2760"/>
                </a:solidFill>
                <a:latin typeface="Avenir Book" panose="02000503020000020003" pitchFamily="2" charset="0"/>
                <a:ea typeface="Calibri" pitchFamily="34" charset="-122"/>
                <a:cs typeface="Calibri" pitchFamily="34" charset="-120"/>
              </a:rPr>
              <a:t>Gabriele Accarino</a:t>
            </a:r>
          </a:p>
          <a:p>
            <a:pPr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Postdoctoral Research Scientist </a:t>
            </a:r>
          </a:p>
          <a:p>
            <a:pPr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Department of Earth and Environmental Engineering</a:t>
            </a:r>
          </a:p>
          <a:p>
            <a:pPr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Columbia University &amp; LEAP NSF STC, New York, US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  <a:hlinkClick r:id="rId5"/>
              </a:rPr>
              <a:t>ga2673@columbia.edu</a:t>
            </a:r>
            <a:endParaRPr lang="en-US" sz="1600" noProof="0" dirty="0">
              <a:solidFill>
                <a:srgbClr val="333333"/>
              </a:solidFill>
              <a:latin typeface="Avenir Book" panose="02000503020000020003" pitchFamily="2" charset="0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endParaRPr lang="en-US" sz="1600" dirty="0">
              <a:solidFill>
                <a:srgbClr val="333333"/>
              </a:solidFill>
              <a:latin typeface="Avenir Book" panose="02000503020000020003" pitchFamily="2" charset="0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Background: Computer</a:t>
            </a:r>
            <a:r>
              <a:rPr lang="en-US" sz="160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 </a:t>
            </a: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Engineering + Env. Science</a:t>
            </a:r>
          </a:p>
          <a:p>
            <a:pPr>
              <a:spcAft>
                <a:spcPts val="600"/>
              </a:spcAft>
              <a:buSzPct val="100000"/>
            </a:pPr>
            <a:endParaRPr lang="en-US" sz="1600" noProof="0" dirty="0">
              <a:solidFill>
                <a:srgbClr val="333333"/>
              </a:solidFill>
              <a:latin typeface="Avenir Book" panose="02000503020000020003" pitchFamily="2" charset="0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Research Interests </a:t>
            </a:r>
          </a:p>
          <a:p>
            <a:pPr marL="285750" indent="-285750">
              <a:spcAft>
                <a:spcPts val="600"/>
              </a:spcAft>
              <a:buSzPct val="100000"/>
              <a:buFontTx/>
              <a:buChar char="-"/>
            </a:pPr>
            <a:r>
              <a:rPr lang="en-US" sz="1600" noProof="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ML emulators of physical systems</a:t>
            </a:r>
          </a:p>
          <a:p>
            <a:pPr marL="285750" indent="-285750">
              <a:spcAft>
                <a:spcPts val="600"/>
              </a:spcAft>
              <a:buSzPct val="100000"/>
              <a:buFontTx/>
              <a:buChar char="-"/>
            </a:pPr>
            <a:r>
              <a:rPr lang="en-US" sz="160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ML for extreme weather events detection</a:t>
            </a:r>
            <a:endParaRPr lang="en-US" sz="1600" noProof="0" dirty="0">
              <a:solidFill>
                <a:srgbClr val="333333"/>
              </a:solidFill>
              <a:latin typeface="Avenir Book" panose="02000503020000020003" pitchFamily="2" charset="0"/>
              <a:cs typeface="Calibri" pitchFamily="34" charset="-120"/>
            </a:endParaRPr>
          </a:p>
          <a:p>
            <a:pPr marL="285750" indent="-285750">
              <a:spcAft>
                <a:spcPts val="600"/>
              </a:spcAft>
              <a:buSzPct val="100000"/>
              <a:buFontTx/>
              <a:buChar char="-"/>
            </a:pPr>
            <a:r>
              <a:rPr lang="en-US" sz="1600" dirty="0">
                <a:solidFill>
                  <a:srgbClr val="333333"/>
                </a:solidFill>
                <a:latin typeface="Avenir Book" panose="02000503020000020003" pitchFamily="2" charset="0"/>
                <a:cs typeface="Calibri" pitchFamily="34" charset="-120"/>
              </a:rPr>
              <a:t>GenAI</a:t>
            </a:r>
            <a:endParaRPr lang="en-US" sz="1600" noProof="0" dirty="0">
              <a:solidFill>
                <a:srgbClr val="333333"/>
              </a:solidFill>
              <a:highlight>
                <a:srgbClr val="FFFF00"/>
              </a:highlight>
              <a:latin typeface="Avenir Book" panose="02000503020000020003" pitchFamily="2" charset="0"/>
              <a:cs typeface="Calibri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3B831-3DAC-2502-561E-0FBFCE086A05}"/>
              </a:ext>
            </a:extLst>
          </p:cNvPr>
          <p:cNvSpPr txBox="1"/>
          <p:nvPr/>
        </p:nvSpPr>
        <p:spPr>
          <a:xfrm>
            <a:off x="188256" y="2421583"/>
            <a:ext cx="3325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From Lecce (Italy)</a:t>
            </a:r>
          </a:p>
          <a:p>
            <a:r>
              <a:rPr lang="en-US" sz="1400" dirty="0">
                <a:latin typeface="Georgia" panose="02040502050405020303" pitchFamily="18" charset="0"/>
              </a:rPr>
              <a:t>Also called  “The Florence of the South”</a:t>
            </a:r>
          </a:p>
        </p:txBody>
      </p:sp>
      <p:pic>
        <p:nvPicPr>
          <p:cNvPr id="11" name="Picture 10" descr="Torre Lapillo: beach, sea, beaches and surroundings [2026 guide]">
            <a:extLst>
              <a:ext uri="{FF2B5EF4-FFF2-40B4-BE49-F238E27FC236}">
                <a16:creationId xmlns:a16="http://schemas.microsoft.com/office/drawing/2014/main" id="{6D52F3FE-F282-D01F-497C-68DE42FDE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0758" y="2944803"/>
            <a:ext cx="2253457" cy="1502304"/>
          </a:xfrm>
          <a:prstGeom prst="rect">
            <a:avLst/>
          </a:prstGeom>
        </p:spPr>
      </p:pic>
      <p:pic>
        <p:nvPicPr>
          <p:cNvPr id="9" name="Picture 8" descr="Le 5 spiagge più belle nei dintorni di Lecce - Masseria LuciaGiovanni">
            <a:extLst>
              <a:ext uri="{FF2B5EF4-FFF2-40B4-BE49-F238E27FC236}">
                <a16:creationId xmlns:a16="http://schemas.microsoft.com/office/drawing/2014/main" id="{58753119-088A-24DC-1F63-13CBFEF489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887" y="3837150"/>
            <a:ext cx="2456329" cy="767603"/>
          </a:xfrm>
          <a:prstGeom prst="rect">
            <a:avLst/>
          </a:prstGeom>
        </p:spPr>
      </p:pic>
      <p:pic>
        <p:nvPicPr>
          <p:cNvPr id="7" name="Picture 6" descr="Visit Lecce: Things to do - Italia.it">
            <a:extLst>
              <a:ext uri="{FF2B5EF4-FFF2-40B4-BE49-F238E27FC236}">
                <a16:creationId xmlns:a16="http://schemas.microsoft.com/office/drawing/2014/main" id="{79B245DC-4A54-9341-47AF-D91E74AB5D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2936242"/>
            <a:ext cx="1420009" cy="166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9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358C0-68BB-9F6D-82D9-19B31D17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987D92-7C63-309C-99B5-B4D85B97D14B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800" noProof="0" dirty="0"/>
          </a:p>
        </p:txBody>
      </p:sp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AC4921CF-0FA7-11A3-BA9A-55E9481D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469306AD-651C-3E94-BBC6-747FB13286A5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1D94525-ED07-A153-7165-1157D094137A}"/>
              </a:ext>
            </a:extLst>
          </p:cNvPr>
          <p:cNvSpPr/>
          <p:nvPr/>
        </p:nvSpPr>
        <p:spPr>
          <a:xfrm>
            <a:off x="640080" y="1005841"/>
            <a:ext cx="7772400" cy="2212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 Definitions, types, and examples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 Climate &amp; Earth Science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Polynomial Regression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function, Gradient Descent, Bias-Variance tradeoff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Perceptron and Artificial Neural Networks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</a:t>
            </a:r>
          </a:p>
        </p:txBody>
      </p:sp>
    </p:spTree>
    <p:extLst>
      <p:ext uri="{BB962C8B-B14F-4D97-AF65-F5344CB8AC3E}">
        <p14:creationId xmlns:p14="http://schemas.microsoft.com/office/powerpoint/2010/main" val="208296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3600" noProof="0" dirty="0"/>
          </a:p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</a:t>
            </a:r>
            <a:endParaRPr lang="en-US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types, examples, and pitfalls</a:t>
            </a:r>
            <a:endParaRPr lang="en-US" sz="1800" noProof="0" dirty="0"/>
          </a:p>
        </p:txBody>
      </p:sp>
      <p:pic>
        <p:nvPicPr>
          <p:cNvPr id="4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Programming vs. ML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Programming</a:t>
            </a:r>
            <a:endParaRPr lang="en-US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Program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↓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Computer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↓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b="1" noProof="0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Output</a:t>
            </a:r>
            <a:endParaRPr lang="en-US" sz="1400" noProof="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2286000"/>
          </a:xfrm>
          <a:prstGeom prst="rect">
            <a:avLst/>
          </a:prstGeom>
          <a:solidFill>
            <a:srgbClr val="E8F5F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6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5029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Output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↓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Computer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↓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b="1" noProof="0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 (Model)</a:t>
            </a:r>
            <a:endParaRPr lang="en-US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Mitchell, T. (1997). Machine Learning. McGraw Hill.</a:t>
            </a:r>
            <a:endParaRPr lang="en-US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Machine Learning?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machine learning is to extract useful information from data</a:t>
            </a:r>
            <a:endParaRPr lang="en-US" sz="1600" noProof="0" dirty="0"/>
          </a:p>
          <a:p>
            <a:pPr marL="0" indent="0" algn="l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learn patterns that generalize to new, unseen examples.</a:t>
            </a:r>
            <a:endParaRPr lang="en-US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83623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data samples (inputs x, outputs y), learn a model that maps x to y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an input-output relationship learned from data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simple methods like linear regression are part of ML methods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 can be scalars, vectors, images, time series, or any combination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/>
              <p:nvPr/>
            </p:nvSpPr>
            <p:spPr>
              <a:xfrm>
                <a:off x="640080" y="1005840"/>
                <a:ext cx="78638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i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Learn from labeled data: each input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𝒙</m:t>
                    </m:r>
                  </m:oMath>
                </a14:m>
                <a:r>
                  <a:rPr lang="en-US" sz="1600" i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comes with a known output (label)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𝒚</m:t>
                    </m:r>
                  </m:oMath>
                </a14:m>
                <a:r>
                  <a:rPr lang="en-US" sz="1600" i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600" noProof="0" dirty="0"/>
              </a:p>
            </p:txBody>
          </p:sp>
        </mc:Choice>
        <mc:Fallback xmlns=""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005840"/>
                <a:ext cx="7863840" cy="365760"/>
              </a:xfrm>
              <a:prstGeom prst="rect">
                <a:avLst/>
              </a:prstGeom>
              <a:blipFill>
                <a:blip r:embed="rId4"/>
                <a:stretch>
                  <a:fillRect l="-1613" b="-13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457200" y="1554480"/>
            <a:ext cx="3840480" cy="182880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continuous (real-valued)</a:t>
            </a:r>
            <a:endParaRPr lang="en-US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precipitation amounts</a:t>
            </a:r>
            <a:endParaRPr lang="en-US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sea surface temperature</a:t>
            </a:r>
            <a:endParaRPr lang="en-US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wind speed</a:t>
            </a:r>
            <a:endParaRPr lang="en-US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4846320" y="1554480"/>
            <a:ext cx="3840480" cy="1828800"/>
          </a:xfrm>
          <a:prstGeom prst="rect">
            <a:avLst/>
          </a:prstGeom>
          <a:solidFill>
            <a:srgbClr val="E8F5F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7"/>
          <p:cNvSpPr/>
          <p:nvPr/>
        </p:nvSpPr>
        <p:spPr>
          <a:xfrm>
            <a:off x="484632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700" noProof="0" dirty="0"/>
          </a:p>
        </p:txBody>
      </p:sp>
      <p:sp>
        <p:nvSpPr>
          <p:cNvPr id="11" name="Text 8"/>
          <p:cNvSpPr/>
          <p:nvPr/>
        </p:nvSpPr>
        <p:spPr>
          <a:xfrm>
            <a:off x="5029200" y="20116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discrete (categories)</a:t>
            </a:r>
            <a:endParaRPr lang="en-US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type: convective vs. stratiform?</a:t>
            </a:r>
            <a:endParaRPr lang="en-US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hurricane in this image?</a:t>
            </a:r>
            <a:endParaRPr lang="en-US" sz="13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Anomaly: severe weather event?</a:t>
            </a:r>
            <a:endParaRPr lang="en-US" sz="1300" noProof="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 labeled datasets: input features paired with known correct outputs.</a:t>
            </a:r>
            <a:endParaRPr lang="en-US" sz="14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Types of Machine Learning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23774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</a:t>
            </a:r>
            <a:endParaRPr lang="en-US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594360" y="1463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labels. Learn structure, clusters, or compressed representations from data alone.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K-means clustering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PCA for dimensionality reduction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Anomaly detection</a:t>
            </a:r>
            <a:endParaRPr lang="en-US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560320" cy="2377440"/>
          </a:xfrm>
          <a:prstGeom prst="rect">
            <a:avLst/>
          </a:prstGeom>
          <a:solidFill>
            <a:srgbClr val="E8F5F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6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3429000" y="1463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through trial and error. Agent takes actions, receives rewards.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Optimizing renewable energy dispatch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weather forecast strategies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 playing (AlphaGo)</a:t>
            </a:r>
            <a:endParaRPr lang="en-US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6126480" y="1051560"/>
            <a:ext cx="2560320" cy="2377440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9"/>
          <p:cNvSpPr/>
          <p:nvPr/>
        </p:nvSpPr>
        <p:spPr>
          <a:xfrm>
            <a:off x="612648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Self-Supervised Learning</a:t>
            </a:r>
            <a:endParaRPr lang="en-US" sz="1300" noProof="0" dirty="0"/>
          </a:p>
        </p:txBody>
      </p:sp>
      <p:sp>
        <p:nvSpPr>
          <p:cNvPr id="13" name="Text 10"/>
          <p:cNvSpPr/>
          <p:nvPr/>
        </p:nvSpPr>
        <p:spPr>
          <a:xfrm>
            <a:off x="6263640" y="1463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labels from the data itself. Bridge between unsupervised and supervised.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Predicting masked regions of satellite images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Contrastive learning on climate fields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Foundation models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Applications in Climate &amp; Earth Science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365760" y="1074420"/>
            <a:ext cx="8503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tasks</a:t>
            </a:r>
            <a:endParaRPr lang="en-US" sz="1600" b="1" dirty="0"/>
          </a:p>
          <a:p>
            <a:pPr marL="742950" lvl="1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physical fields, e.g., temperature, precipitation </a:t>
            </a:r>
            <a:endParaRPr lang="en-US" sz="1600" noProof="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tasks</a:t>
            </a:r>
            <a:endParaRPr lang="en-US" sz="1600" noProof="0" dirty="0"/>
          </a:p>
          <a:p>
            <a:pPr marL="628650" lvl="1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cloud types (stratiform vs. convective), detect Tropical Cyclones in climate maps</a:t>
            </a:r>
            <a:endParaRPr lang="en-US" sz="1600" noProof="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600" noProof="0" dirty="0"/>
          </a:p>
          <a:p>
            <a:pPr marL="628650" lvl="1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Tropical Cyclone center</a:t>
            </a:r>
            <a:endParaRPr lang="en-US" sz="1600" noProof="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600" noProof="0" dirty="0"/>
          </a:p>
          <a:p>
            <a:pPr marL="628650" lvl="1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weather, heat waves</a:t>
            </a:r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Subgrid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-scale parameterization</a:t>
            </a:r>
            <a:endParaRPr lang="en-US" sz="1600" noProof="0" dirty="0"/>
          </a:p>
          <a:p>
            <a:pPr marL="628650" lvl="1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computationally heavy or uncertain parameterizations in numerical models with ML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73691-2C98-B5ED-CA59-3DDAB114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CC1F43-E672-20F1-3899-BDC8D05CB072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36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C5BBDD-0FF3-4058-9418-A432E190D4C8}"/>
              </a:ext>
            </a:extLst>
          </p:cNvPr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cost function, gradient descent, and the bias-variance trade-off</a:t>
            </a:r>
            <a:endParaRPr lang="en-US" sz="1800" noProof="0" dirty="0"/>
          </a:p>
        </p:txBody>
      </p:sp>
      <p:pic>
        <p:nvPicPr>
          <p:cNvPr id="4" name="Image 0" descr="/home/claude/nsf_leap_logo.png">
            <a:extLst>
              <a:ext uri="{FF2B5EF4-FFF2-40B4-BE49-F238E27FC236}">
                <a16:creationId xmlns:a16="http://schemas.microsoft.com/office/drawing/2014/main" id="{4A44C862-9A11-ABEB-85FC-2B4A51D6F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5" name="Up Arrow 4">
            <a:extLst>
              <a:ext uri="{FF2B5EF4-FFF2-40B4-BE49-F238E27FC236}">
                <a16:creationId xmlns:a16="http://schemas.microsoft.com/office/drawing/2014/main" id="{3DA5E880-7FFA-AE25-9125-1541642CA7E1}"/>
              </a:ext>
            </a:extLst>
          </p:cNvPr>
          <p:cNvSpPr/>
          <p:nvPr/>
        </p:nvSpPr>
        <p:spPr>
          <a:xfrm>
            <a:off x="959224" y="3054096"/>
            <a:ext cx="484632" cy="978408"/>
          </a:xfrm>
          <a:prstGeom prst="upArrow">
            <a:avLst/>
          </a:prstGeom>
          <a:solidFill>
            <a:srgbClr val="B1C4DF"/>
          </a:solidFill>
          <a:ln>
            <a:solidFill>
              <a:srgbClr val="B1C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661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ML model: fit a straight line to data.</a:t>
            </a:r>
            <a:endParaRPr lang="en-US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8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5"/>
              <p:cNvSpPr/>
              <p:nvPr/>
            </p:nvSpPr>
            <p:spPr>
              <a:xfrm>
                <a:off x="640080" y="2709648"/>
                <a:ext cx="7772400" cy="18610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b="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The linear model is often called </a:t>
                </a:r>
                <a:r>
                  <a:rPr lang="en-US" sz="1600" b="1" noProof="0" dirty="0">
                    <a:solidFill>
                      <a:srgbClr val="1E2760"/>
                    </a:solidFill>
                    <a:ea typeface="Calibri" pitchFamily="34" charset="-122"/>
                    <a:cs typeface="Calibri" pitchFamily="34" charset="-120"/>
                  </a:rPr>
                  <a:t>hypothesis function</a:t>
                </a:r>
                <a:r>
                  <a:rPr lang="en-US" sz="1600" b="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since this represents our hypothesis of the underlying relationship among data</a:t>
                </a:r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𝜃</m:t>
                        </m:r>
                      </m:e>
                      <m:sub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  = weight vector (parameters to learn)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  = input features/variables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accPr>
                      <m:e>
                        <m:r>
                          <a:rPr lang="en-US" sz="16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    = predicted output (e.g., precipitation amount)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b="1" noProof="0" dirty="0">
                    <a:solidFill>
                      <a:srgbClr val="1E2760"/>
                    </a:solidFill>
                    <a:ea typeface="Calibri" pitchFamily="34" charset="-122"/>
                    <a:cs typeface="Calibri" pitchFamily="34" charset="-120"/>
                  </a:rPr>
                  <a:t>Goal</a:t>
                </a:r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: find weights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𝜃</m:t>
                    </m:r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that minimize prediction errors on training data</a:t>
                </a:r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b="1" noProof="0" dirty="0">
                    <a:solidFill>
                      <a:srgbClr val="1E2760"/>
                    </a:solidFill>
                    <a:cs typeface="Calibri" pitchFamily="34" charset="-120"/>
                  </a:rPr>
                  <a:t>Important</a:t>
                </a:r>
                <a:r>
                  <a:rPr lang="en-US" sz="1600" noProof="0" dirty="0">
                    <a:solidFill>
                      <a:srgbClr val="333333"/>
                    </a:solidFill>
                    <a:cs typeface="Calibri" pitchFamily="34" charset="-120"/>
                  </a:rPr>
                  <a:t>: the model is linear in the parameters! It might be non-linear in the input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endParaRPr lang="en-US" sz="1600" noProof="0" dirty="0"/>
              </a:p>
            </p:txBody>
          </p:sp>
        </mc:Choice>
        <mc:Fallback xmlns=""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709648"/>
                <a:ext cx="7772400" cy="1861012"/>
              </a:xfrm>
              <a:prstGeom prst="rect">
                <a:avLst/>
              </a:prstGeom>
              <a:blipFill>
                <a:blip r:embed="rId4"/>
                <a:stretch>
                  <a:fillRect l="-489" t="-18367" b="-476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2E1B81-3B7B-5653-DF24-C9852F941125}"/>
                  </a:ext>
                </a:extLst>
              </p:cNvPr>
              <p:cNvSpPr txBox="1"/>
              <p:nvPr/>
            </p:nvSpPr>
            <p:spPr>
              <a:xfrm>
                <a:off x="2605500" y="1801921"/>
                <a:ext cx="39330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 ⋯ +</m:t>
                      </m:r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2E1B81-3B7B-5653-DF24-C9852F941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500" y="1801921"/>
                <a:ext cx="3933000" cy="276999"/>
              </a:xfrm>
              <a:prstGeom prst="rect">
                <a:avLst/>
              </a:prstGeom>
              <a:blipFill>
                <a:blip r:embed="rId5"/>
                <a:stretch>
                  <a:fillRect l="-1923" t="-18182" r="-1923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CEFD4-233F-54A8-6F1B-38722465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A7F514-FAA0-5B26-D959-0F7A3E63C10F}"/>
              </a:ext>
            </a:extLst>
          </p:cNvPr>
          <p:cNvSpPr/>
          <p:nvPr/>
        </p:nvSpPr>
        <p:spPr>
          <a:xfrm>
            <a:off x="45720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</a:rPr>
              <a:t>Example: NINO3.4 index in GCM simulations</a:t>
            </a:r>
            <a:endParaRPr lang="en-US" sz="2800" noProof="0" dirty="0"/>
          </a:p>
        </p:txBody>
      </p:sp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104F5D9E-B5A9-0090-3DA5-E08D59F2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AA59591B-AE37-3F1D-BA5D-3244A9D54291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34E6039-604D-2FE7-FEF6-E3A41470272E}"/>
              </a:ext>
            </a:extLst>
          </p:cNvPr>
          <p:cNvSpPr/>
          <p:nvPr/>
        </p:nvSpPr>
        <p:spPr>
          <a:xfrm>
            <a:off x="685800" y="9180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Goal</a:t>
            </a: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: Predict precipitation in California from SST anomalies over the NINO3.4 region</a:t>
            </a:r>
            <a:endParaRPr lang="en-US" sz="1600" noProof="0" dirty="0"/>
          </a:p>
        </p:txBody>
      </p:sp>
      <p:pic>
        <p:nvPicPr>
          <p:cNvPr id="7" name="Google Shape;158;g362a5d43a5f_0_141" title="Screenshot 2025-07-01 at 10.12.49 AM.png">
            <a:extLst>
              <a:ext uri="{FF2B5EF4-FFF2-40B4-BE49-F238E27FC236}">
                <a16:creationId xmlns:a16="http://schemas.microsoft.com/office/drawing/2014/main" id="{FEBAE096-F77E-480D-E095-98B9EC50B3E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9482" y="2296726"/>
            <a:ext cx="6524518" cy="2167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9;g362a5d43a5f_0_141" title="Screenshot 2025-07-10 at 10.23.35 PM.png">
            <a:extLst>
              <a:ext uri="{FF2B5EF4-FFF2-40B4-BE49-F238E27FC236}">
                <a16:creationId xmlns:a16="http://schemas.microsoft.com/office/drawing/2014/main" id="{7059B912-7E04-F256-ECA7-AE88460B39F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02" y="2443508"/>
            <a:ext cx="2551783" cy="18514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5E188C-CA73-4CE8-1698-A60C5EDBEB75}"/>
              </a:ext>
            </a:extLst>
          </p:cNvPr>
          <p:cNvSpPr txBox="1"/>
          <p:nvPr/>
        </p:nvSpPr>
        <p:spPr>
          <a:xfrm>
            <a:off x="4203550" y="4515683"/>
            <a:ext cx="4832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kls2177.github.io/Climate-and-Geophysical-Data-Analysis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7BEBF-9C26-F38D-7AB4-DB11CDDBAEA7}"/>
              </a:ext>
            </a:extLst>
          </p:cNvPr>
          <p:cNvSpPr txBox="1"/>
          <p:nvPr/>
        </p:nvSpPr>
        <p:spPr>
          <a:xfrm>
            <a:off x="274320" y="1307642"/>
            <a:ext cx="8595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i="0" u="none" strike="noStrike" dirty="0">
                <a:solidFill>
                  <a:srgbClr val="222832"/>
                </a:solidFill>
                <a:effectLst/>
                <a:latin typeface="Georgia" panose="02040502050405020303" pitchFamily="18" charset="0"/>
              </a:rPr>
              <a:t>ENSO</a:t>
            </a:r>
            <a:r>
              <a:rPr lang="en-US" sz="1400" b="0" i="0" u="none" strike="noStrike" dirty="0">
                <a:solidFill>
                  <a:srgbClr val="222832"/>
                </a:solidFill>
                <a:effectLst/>
                <a:latin typeface="Georgia" panose="02040502050405020303" pitchFamily="18" charset="0"/>
              </a:rPr>
              <a:t> (El Niño Southern Oscillation) is a recurring global climate pattern involving changes in the temperature of waters in the tropical Pacific Ocean. It is made of different phases:</a:t>
            </a:r>
          </a:p>
          <a:p>
            <a:pPr algn="just"/>
            <a:r>
              <a:rPr lang="en-US" sz="1400" b="1" i="0" u="none" strike="noStrike" dirty="0">
                <a:solidFill>
                  <a:srgbClr val="222832"/>
                </a:solidFill>
                <a:effectLst/>
                <a:latin typeface="Georgia" panose="02040502050405020303" pitchFamily="18" charset="0"/>
              </a:rPr>
              <a:t>El Niño</a:t>
            </a:r>
            <a:r>
              <a:rPr lang="en-US" sz="1400" b="0" i="0" u="none" strike="noStrike" dirty="0">
                <a:solidFill>
                  <a:srgbClr val="222832"/>
                </a:solidFill>
                <a:effectLst/>
                <a:latin typeface="Georgia" panose="02040502050405020303" pitchFamily="18" charset="0"/>
              </a:rPr>
              <a:t> represents the warming phase, i.e., California typically gets more winter rainfall and vice versa when there is a </a:t>
            </a:r>
            <a:r>
              <a:rPr lang="en-US" sz="1400" b="1" i="0" u="none" strike="noStrike" dirty="0">
                <a:solidFill>
                  <a:srgbClr val="222832"/>
                </a:solidFill>
                <a:effectLst/>
                <a:latin typeface="Georgia" panose="02040502050405020303" pitchFamily="18" charset="0"/>
              </a:rPr>
              <a:t>La Niña</a:t>
            </a:r>
            <a:r>
              <a:rPr lang="en-US" sz="1400" b="0" i="0" u="none" strike="noStrike" dirty="0">
                <a:solidFill>
                  <a:srgbClr val="222832"/>
                </a:solidFill>
                <a:effectLst/>
                <a:latin typeface="Georgia" panose="02040502050405020303" pitchFamily="18" charset="0"/>
              </a:rPr>
              <a:t> event (cooling phase). We have also a neutral phase.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728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2a5d43a5f_0_157"/>
          <p:cNvSpPr txBox="1"/>
          <p:nvPr/>
        </p:nvSpPr>
        <p:spPr>
          <a:xfrm>
            <a:off x="232313" y="948574"/>
            <a:ext cx="4349700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420019" indent="-285750"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To what type of ML category linear regression belongs to?</a:t>
            </a:r>
          </a:p>
        </p:txBody>
      </p:sp>
      <p:pic>
        <p:nvPicPr>
          <p:cNvPr id="169" name="Google Shape;169;g362a5d43a5f_0_157" title="Screenshot 2025-07-01 at 10.14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2031" y="869794"/>
            <a:ext cx="4053770" cy="35370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g362a5d43a5f_0_157"/>
          <p:cNvCxnSpPr/>
          <p:nvPr/>
        </p:nvCxnSpPr>
        <p:spPr>
          <a:xfrm rot="10800000" flipH="1">
            <a:off x="5432550" y="1605825"/>
            <a:ext cx="2526300" cy="193185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g362a5d43a5f_0_157"/>
          <p:cNvSpPr txBox="1"/>
          <p:nvPr/>
        </p:nvSpPr>
        <p:spPr>
          <a:xfrm>
            <a:off x="232313" y="1607910"/>
            <a:ext cx="4349700" cy="1408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700087" lvl="1" indent="-285750"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Supervised Learning</a:t>
            </a:r>
          </a:p>
          <a:p>
            <a:pPr marL="700087" lvl="1" indent="-28575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Our dataset is supervised as we are using the precipitation variable as the ground truth</a:t>
            </a:r>
          </a:p>
        </p:txBody>
      </p:sp>
      <p:sp>
        <p:nvSpPr>
          <p:cNvPr id="172" name="Google Shape;172;g362a5d43a5f_0_157"/>
          <p:cNvSpPr txBox="1"/>
          <p:nvPr/>
        </p:nvSpPr>
        <p:spPr>
          <a:xfrm>
            <a:off x="222300" y="3075553"/>
            <a:ext cx="4349700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420019" indent="-285750"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What type of learning task are we addressing?</a:t>
            </a:r>
          </a:p>
        </p:txBody>
      </p:sp>
      <p:sp>
        <p:nvSpPr>
          <p:cNvPr id="173" name="Google Shape;173;g362a5d43a5f_0_157"/>
          <p:cNvSpPr txBox="1"/>
          <p:nvPr/>
        </p:nvSpPr>
        <p:spPr>
          <a:xfrm>
            <a:off x="232313" y="3637312"/>
            <a:ext cx="4349700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700087" lvl="1" indent="-285750"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Regression, as the target is represented by numerical values (not categories)</a:t>
            </a:r>
          </a:p>
        </p:txBody>
      </p:sp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779CECF9-168F-2F91-940F-8ED3AEA3F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8D849529-D1BA-B3BF-0128-6E6C0DE9B5C0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725F3F0-7D16-C1E0-1D9F-58867CCF3AB4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</a:rPr>
              <a:t>Example: NINO3.4 index</a:t>
            </a:r>
            <a:endParaRPr lang="en-US" sz="28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11342-B421-78A2-8B27-84805251D22A}"/>
              </a:ext>
            </a:extLst>
          </p:cNvPr>
          <p:cNvSpPr txBox="1"/>
          <p:nvPr/>
        </p:nvSpPr>
        <p:spPr>
          <a:xfrm>
            <a:off x="4203550" y="4515683"/>
            <a:ext cx="4832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kls2177.github.io/Climate-and-Geophysical-Data-Analysis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2a5d43a5f_0_149"/>
          <p:cNvSpPr txBox="1"/>
          <p:nvPr/>
        </p:nvSpPr>
        <p:spPr>
          <a:xfrm>
            <a:off x="204101" y="2507027"/>
            <a:ext cx="4124250" cy="201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420019" indent="-285750"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575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 = number of training example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575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 = number of features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575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x’s = “input” variable / features</a:t>
            </a:r>
          </a:p>
          <a:p>
            <a:pPr marL="420019" indent="-28575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575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y’s = “output” variable / “target” variable</a:t>
            </a:r>
          </a:p>
        </p:txBody>
      </p:sp>
      <p:pic>
        <p:nvPicPr>
          <p:cNvPr id="181" name="Google Shape;181;g362a5d43a5f_0_149" title="Screenshot 2025-07-01 at 10.10.19 AM.png"/>
          <p:cNvPicPr preferRelativeResize="0"/>
          <p:nvPr/>
        </p:nvPicPr>
        <p:blipFill rotWithShape="1">
          <a:blip r:embed="rId3">
            <a:alphaModFix/>
          </a:blip>
          <a:srcRect b="11496"/>
          <a:stretch/>
        </p:blipFill>
        <p:spPr>
          <a:xfrm>
            <a:off x="4499363" y="1100611"/>
            <a:ext cx="2846119" cy="288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62a5d43a5f_0_149"/>
          <p:cNvSpPr/>
          <p:nvPr/>
        </p:nvSpPr>
        <p:spPr>
          <a:xfrm>
            <a:off x="7356113" y="1411432"/>
            <a:ext cx="478800" cy="2518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3" name="Google Shape;183;g362a5d43a5f_0_149"/>
          <p:cNvSpPr txBox="1"/>
          <p:nvPr/>
        </p:nvSpPr>
        <p:spPr>
          <a:xfrm>
            <a:off x="7845544" y="2480069"/>
            <a:ext cx="1040175" cy="38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r>
              <a:rPr lang="en-US" sz="1575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m = 1100</a:t>
            </a:r>
          </a:p>
        </p:txBody>
      </p:sp>
      <p:sp>
        <p:nvSpPr>
          <p:cNvPr id="185" name="Google Shape;185;g362a5d43a5f_0_149"/>
          <p:cNvSpPr txBox="1"/>
          <p:nvPr/>
        </p:nvSpPr>
        <p:spPr>
          <a:xfrm>
            <a:off x="6619341" y="764369"/>
            <a:ext cx="320850" cy="38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575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y</a:t>
            </a:r>
          </a:p>
        </p:txBody>
      </p:sp>
      <p:sp>
        <p:nvSpPr>
          <p:cNvPr id="186" name="Google Shape;186;g362a5d43a5f_0_149"/>
          <p:cNvSpPr/>
          <p:nvPr/>
        </p:nvSpPr>
        <p:spPr>
          <a:xfrm rot="5400000">
            <a:off x="5248409" y="3484170"/>
            <a:ext cx="478800" cy="1490959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7" name="Google Shape;187;g362a5d43a5f_0_149"/>
          <p:cNvSpPr txBox="1"/>
          <p:nvPr/>
        </p:nvSpPr>
        <p:spPr>
          <a:xfrm>
            <a:off x="4967721" y="4469050"/>
            <a:ext cx="1040175" cy="38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575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n = 2</a:t>
            </a:r>
          </a:p>
        </p:txBody>
      </p:sp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2E28FE83-D9DC-AFFA-A383-3F645D71E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4168C539-0134-F6A8-5B45-06036DDE2776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F7D68D6-86EC-037F-CFB7-EB496CD9B722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</a:rPr>
              <a:t>Linear Regression: Model representation</a:t>
            </a:r>
            <a:endParaRPr lang="en-US" sz="2800" noProof="0" dirty="0"/>
          </a:p>
        </p:txBody>
      </p:sp>
      <p:pic>
        <p:nvPicPr>
          <p:cNvPr id="5" name="Google Shape;225;g36e821adc0d_0_39" title="Screenshot 2025-07-10 at 10.38.12 PM.png">
            <a:extLst>
              <a:ext uri="{FF2B5EF4-FFF2-40B4-BE49-F238E27FC236}">
                <a16:creationId xmlns:a16="http://schemas.microsoft.com/office/drawing/2014/main" id="{0133B7D0-F703-A4F2-895B-9DBD8378499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r="46864"/>
          <a:stretch>
            <a:fillRect/>
          </a:stretch>
        </p:blipFill>
        <p:spPr>
          <a:xfrm>
            <a:off x="3751619" y="1078744"/>
            <a:ext cx="1360726" cy="300897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8716AA-7AE4-3C91-4EE0-3CDCBA4C6E5F}"/>
              </a:ext>
            </a:extLst>
          </p:cNvPr>
          <p:cNvSpPr txBox="1"/>
          <p:nvPr/>
        </p:nvSpPr>
        <p:spPr>
          <a:xfrm>
            <a:off x="4274214" y="762576"/>
            <a:ext cx="948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𝜃</a:t>
            </a:r>
            <a:r>
              <a:rPr lang="en-US" sz="1800" b="1" baseline="-25000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lang="en-US" sz="180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* 1</a:t>
            </a:r>
          </a:p>
        </p:txBody>
      </p:sp>
      <p:sp>
        <p:nvSpPr>
          <p:cNvPr id="8" name="Google Shape;222;g36e821adc0d_0_39">
            <a:extLst>
              <a:ext uri="{FF2B5EF4-FFF2-40B4-BE49-F238E27FC236}">
                <a16:creationId xmlns:a16="http://schemas.microsoft.com/office/drawing/2014/main" id="{03F30AEA-8207-D663-FA95-BB7884439BB7}"/>
              </a:ext>
            </a:extLst>
          </p:cNvPr>
          <p:cNvSpPr txBox="1"/>
          <p:nvPr/>
        </p:nvSpPr>
        <p:spPr>
          <a:xfrm>
            <a:off x="5297824" y="751057"/>
            <a:ext cx="687825" cy="41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𝜃</a:t>
            </a:r>
            <a:r>
              <a:rPr lang="en-US" b="1" baseline="-25000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* x</a:t>
            </a:r>
          </a:p>
        </p:txBody>
      </p:sp>
      <p:pic>
        <p:nvPicPr>
          <p:cNvPr id="9" name="Google Shape;226;g36e821adc0d_0_39">
            <a:extLst>
              <a:ext uri="{FF2B5EF4-FFF2-40B4-BE49-F238E27FC236}">
                <a16:creationId xmlns:a16="http://schemas.microsoft.com/office/drawing/2014/main" id="{CBD1E10D-892D-A932-0623-AC101DE56A2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294" y="1349762"/>
            <a:ext cx="2679169" cy="30175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2a5d43a5f_0_135"/>
          <p:cNvSpPr/>
          <p:nvPr/>
        </p:nvSpPr>
        <p:spPr>
          <a:xfrm>
            <a:off x="1503375" y="957713"/>
            <a:ext cx="2063925" cy="6689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noProof="0" dirty="0"/>
              <a:t>Training Set</a:t>
            </a:r>
          </a:p>
        </p:txBody>
      </p:sp>
      <p:sp>
        <p:nvSpPr>
          <p:cNvPr id="195" name="Google Shape;195;g362a5d43a5f_0_135"/>
          <p:cNvSpPr/>
          <p:nvPr/>
        </p:nvSpPr>
        <p:spPr>
          <a:xfrm>
            <a:off x="1503375" y="1980188"/>
            <a:ext cx="2063925" cy="6689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noProof="0" dirty="0"/>
              <a:t>Learning Algorithm</a:t>
            </a:r>
          </a:p>
        </p:txBody>
      </p:sp>
      <p:sp>
        <p:nvSpPr>
          <p:cNvPr id="196" name="Google Shape;196;g362a5d43a5f_0_135"/>
          <p:cNvSpPr/>
          <p:nvPr/>
        </p:nvSpPr>
        <p:spPr>
          <a:xfrm>
            <a:off x="2030100" y="2928356"/>
            <a:ext cx="1010475" cy="6689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b="1" i="1" noProof="0" dirty="0">
                <a:latin typeface="Avenir"/>
                <a:ea typeface="Avenir"/>
                <a:cs typeface="Avenir"/>
                <a:sym typeface="Avenir"/>
              </a:rPr>
              <a:t>h</a:t>
            </a:r>
            <a:r>
              <a:rPr lang="en-US" sz="1350" b="1" i="1" baseline="-25000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𝜃</a:t>
            </a:r>
            <a:r>
              <a:rPr lang="en-US" sz="1350" b="1" i="1" noProof="0" dirty="0">
                <a:latin typeface="Avenir"/>
                <a:ea typeface="Avenir"/>
                <a:cs typeface="Avenir"/>
                <a:sym typeface="Avenir"/>
              </a:rPr>
              <a:t>(</a:t>
            </a:r>
            <a:r>
              <a:rPr lang="en-US" sz="1350" b="1" i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x)</a:t>
            </a:r>
            <a:endParaRPr lang="en-US" sz="1350" b="1" i="1" noProof="0" dirty="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7" name="Google Shape;197;g362a5d43a5f_0_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725" y="2163075"/>
            <a:ext cx="2679169" cy="30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g362a5d43a5f_0_135"/>
          <p:cNvCxnSpPr>
            <a:stCxn id="194" idx="2"/>
            <a:endCxn id="195" idx="0"/>
          </p:cNvCxnSpPr>
          <p:nvPr/>
        </p:nvCxnSpPr>
        <p:spPr>
          <a:xfrm>
            <a:off x="2535338" y="1626638"/>
            <a:ext cx="0" cy="35347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" name="Google Shape;199;g362a5d43a5f_0_135"/>
          <p:cNvCxnSpPr>
            <a:stCxn id="195" idx="2"/>
            <a:endCxn id="196" idx="0"/>
          </p:cNvCxnSpPr>
          <p:nvPr/>
        </p:nvCxnSpPr>
        <p:spPr>
          <a:xfrm>
            <a:off x="2535338" y="2649113"/>
            <a:ext cx="0" cy="2792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g362a5d43a5f_0_135"/>
          <p:cNvCxnSpPr>
            <a:stCxn id="201" idx="3"/>
            <a:endCxn id="196" idx="1"/>
          </p:cNvCxnSpPr>
          <p:nvPr/>
        </p:nvCxnSpPr>
        <p:spPr>
          <a:xfrm>
            <a:off x="1503375" y="3262719"/>
            <a:ext cx="526725" cy="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g362a5d43a5f_0_135"/>
          <p:cNvSpPr txBox="1"/>
          <p:nvPr/>
        </p:nvSpPr>
        <p:spPr>
          <a:xfrm>
            <a:off x="198825" y="2985731"/>
            <a:ext cx="1304550" cy="55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SST Anomalies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(x)</a:t>
            </a:r>
          </a:p>
        </p:txBody>
      </p:sp>
      <p:sp>
        <p:nvSpPr>
          <p:cNvPr id="202" name="Google Shape;202;g362a5d43a5f_0_135"/>
          <p:cNvSpPr txBox="1"/>
          <p:nvPr/>
        </p:nvSpPr>
        <p:spPr>
          <a:xfrm>
            <a:off x="3643013" y="2985731"/>
            <a:ext cx="1223775" cy="55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Precipitation </a:t>
            </a:r>
            <a:b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(y)</a:t>
            </a:r>
          </a:p>
        </p:txBody>
      </p:sp>
      <p:cxnSp>
        <p:nvCxnSpPr>
          <p:cNvPr id="203" name="Google Shape;203;g362a5d43a5f_0_135"/>
          <p:cNvCxnSpPr>
            <a:stCxn id="196" idx="3"/>
            <a:endCxn id="202" idx="1"/>
          </p:cNvCxnSpPr>
          <p:nvPr/>
        </p:nvCxnSpPr>
        <p:spPr>
          <a:xfrm flipV="1">
            <a:off x="3040575" y="3262719"/>
            <a:ext cx="602438" cy="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04" name="Google Shape;204;g362a5d43a5f_0_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700" y="3072544"/>
            <a:ext cx="218141" cy="2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62a5d43a5f_0_135"/>
          <p:cNvSpPr txBox="1"/>
          <p:nvPr/>
        </p:nvSpPr>
        <p:spPr>
          <a:xfrm>
            <a:off x="6208594" y="3072544"/>
            <a:ext cx="2063925" cy="76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Parameters</a:t>
            </a:r>
          </a:p>
          <a:p>
            <a:pPr algn="ctr"/>
            <a:endParaRPr lang="en-US" sz="1350" b="1" noProof="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/>
            <a: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How to choose         ? </a:t>
            </a:r>
          </a:p>
        </p:txBody>
      </p:sp>
      <p:pic>
        <p:nvPicPr>
          <p:cNvPr id="206" name="Google Shape;206;g362a5d43a5f_0_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2056" y="3449213"/>
            <a:ext cx="218141" cy="2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62a5d43a5f_0_135"/>
          <p:cNvSpPr txBox="1"/>
          <p:nvPr/>
        </p:nvSpPr>
        <p:spPr>
          <a:xfrm>
            <a:off x="1923450" y="3705319"/>
            <a:ext cx="1223775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hypothesis</a:t>
            </a:r>
          </a:p>
        </p:txBody>
      </p:sp>
      <p:cxnSp>
        <p:nvCxnSpPr>
          <p:cNvPr id="208" name="Google Shape;208;g362a5d43a5f_0_135"/>
          <p:cNvCxnSpPr>
            <a:stCxn id="207" idx="3"/>
          </p:cNvCxnSpPr>
          <p:nvPr/>
        </p:nvCxnSpPr>
        <p:spPr>
          <a:xfrm flipV="1">
            <a:off x="3147225" y="2334732"/>
            <a:ext cx="2732625" cy="1543700"/>
          </a:xfrm>
          <a:prstGeom prst="curvedConnector3">
            <a:avLst>
              <a:gd name="adj1" fmla="val 76573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E2C62417-F309-8B1C-6580-04FC8BD16D7F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Training/Learning Task Overview</a:t>
            </a:r>
            <a:endParaRPr lang="en-US" sz="2800" noProof="0" dirty="0"/>
          </a:p>
        </p:txBody>
      </p:sp>
      <p:pic>
        <p:nvPicPr>
          <p:cNvPr id="5" name="Image 0" descr="/home/claude/nsf_leap_logo.png">
            <a:extLst>
              <a:ext uri="{FF2B5EF4-FFF2-40B4-BE49-F238E27FC236}">
                <a16:creationId xmlns:a16="http://schemas.microsoft.com/office/drawing/2014/main" id="{8BDC70BC-71C3-69E0-9E1E-9BB888C17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04DB42A9-9FC7-1BE1-2685-2029303D49D3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1A130-537F-FB12-83FA-93E82000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9929C9-47E0-2906-C166-58F7D4BEFDE3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36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BC7524-1075-A41A-DC4C-F70F67E0762E}"/>
              </a:ext>
            </a:extLst>
          </p:cNvPr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cost function, gradient descent, and the bias-variance trade-off</a:t>
            </a:r>
            <a:endParaRPr lang="en-US" sz="1800" noProof="0" dirty="0"/>
          </a:p>
        </p:txBody>
      </p:sp>
      <p:pic>
        <p:nvPicPr>
          <p:cNvPr id="4" name="Image 0" descr="/home/claude/nsf_leap_logo.png">
            <a:extLst>
              <a:ext uri="{FF2B5EF4-FFF2-40B4-BE49-F238E27FC236}">
                <a16:creationId xmlns:a16="http://schemas.microsoft.com/office/drawing/2014/main" id="{B03F472C-C120-2FAC-0F24-9E53EA44C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5" name="Up Arrow 4">
            <a:extLst>
              <a:ext uri="{FF2B5EF4-FFF2-40B4-BE49-F238E27FC236}">
                <a16:creationId xmlns:a16="http://schemas.microsoft.com/office/drawing/2014/main" id="{059F0E3D-C42B-FB8D-D324-13B97E5886AC}"/>
              </a:ext>
            </a:extLst>
          </p:cNvPr>
          <p:cNvSpPr/>
          <p:nvPr/>
        </p:nvSpPr>
        <p:spPr>
          <a:xfrm>
            <a:off x="2528048" y="3108960"/>
            <a:ext cx="484632" cy="978408"/>
          </a:xfrm>
          <a:prstGeom prst="upArrow">
            <a:avLst/>
          </a:prstGeom>
          <a:solidFill>
            <a:srgbClr val="B1C4DF"/>
          </a:solidFill>
          <a:ln>
            <a:solidFill>
              <a:srgbClr val="B1C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5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2a5d43a5f_0_191"/>
          <p:cNvSpPr txBox="1">
            <a:spLocks noGrp="1"/>
          </p:cNvSpPr>
          <p:nvPr>
            <p:ph type="ctrTitle"/>
          </p:nvPr>
        </p:nvSpPr>
        <p:spPr>
          <a:xfrm>
            <a:off x="124688" y="143400"/>
            <a:ext cx="8441100" cy="39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rmAutofit/>
          </a:bodyPr>
          <a:lstStyle/>
          <a:p>
            <a:pPr algn="l"/>
            <a:r>
              <a:rPr lang="en-US" noProof="0" dirty="0"/>
              <a:t>Different parameters identify different models</a:t>
            </a:r>
          </a:p>
        </p:txBody>
      </p:sp>
      <p:pic>
        <p:nvPicPr>
          <p:cNvPr id="239" name="Google Shape;239;g362a5d43a5f_0_191" title="Screenshot 2025-07-01 at 11.03.34 AM.png"/>
          <p:cNvPicPr preferRelativeResize="0"/>
          <p:nvPr/>
        </p:nvPicPr>
        <p:blipFill rotWithShape="1">
          <a:blip r:embed="rId3">
            <a:alphaModFix/>
          </a:blip>
          <a:srcRect l="6993" r="6984"/>
          <a:stretch/>
        </p:blipFill>
        <p:spPr>
          <a:xfrm>
            <a:off x="222432" y="1094832"/>
            <a:ext cx="2963537" cy="15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62a5d43a5f_0_191" title="Screenshot 2025-07-01 at 11.04.5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638" y="1094837"/>
            <a:ext cx="2608801" cy="15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62a5d43a5f_0_191" title="Screenshot 2025-07-01 at 11.06.1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4112" y="1094831"/>
            <a:ext cx="2867465" cy="1521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62a5d43a5f_0_1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2547" y="2843625"/>
            <a:ext cx="2150595" cy="309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62a5d43a5f_0_1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5777" y="2843625"/>
            <a:ext cx="1648528" cy="309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62a5d43a5f_0_1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4715" y="2843625"/>
            <a:ext cx="2158958" cy="30961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62a5d43a5f_0_191"/>
          <p:cNvSpPr txBox="1"/>
          <p:nvPr/>
        </p:nvSpPr>
        <p:spPr>
          <a:xfrm>
            <a:off x="294863" y="3369501"/>
            <a:ext cx="8650350" cy="125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420019" indent="-285750"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There are infinite ways to select those parameters. One can randomly pick them, or just impose them, but how do we ensure that they are good parameters? </a:t>
            </a:r>
          </a:p>
          <a:p>
            <a:pPr marL="420019" indent="-28575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From an infinite set of solutions, we are interested in the best one. But what does it mean best?</a:t>
            </a:r>
            <a:endParaRPr lang="en-US" sz="1600" noProof="0" dirty="0"/>
          </a:p>
        </p:txBody>
      </p:sp>
      <p:pic>
        <p:nvPicPr>
          <p:cNvPr id="246" name="Google Shape;246;g362a5d43a5f_0_19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32416" y="697969"/>
            <a:ext cx="2679169" cy="3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22D3E32C-77DA-23B5-5153-6E420F791D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7A6FF73B-53C9-6904-1EC5-5BA2EE945DC1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Function: Mean Squared Error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how well our model fits the data?</a:t>
            </a:r>
            <a:endParaRPr lang="en-US" sz="16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/>
              <p:nvPr/>
            </p:nvSpPr>
            <p:spPr>
              <a:xfrm>
                <a:off x="640079" y="2391784"/>
                <a:ext cx="8229599" cy="2011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sz="160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is the actual (true) value for sample</a:t>
                </a:r>
                <a:r>
                  <a:rPr lang="en-US" sz="1600" i="1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i="1" noProof="0" dirty="0" err="1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i</a:t>
                </a:r>
                <a:endParaRPr lang="en-US" sz="1600" i="1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6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libri" pitchFamily="34" charset="-120"/>
                              </a:rPr>
                            </m:ctrlPr>
                          </m:accPr>
                          <m:e>
                            <m:r>
                              <a:rPr lang="en-US" sz="16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libri" pitchFamily="34" charset="-120"/>
                              </a:rPr>
                              <m:t>𝑦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sz="16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libri" pitchFamily="34" charset="-12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1600" b="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itchFamily="34" charset="-120"/>
                      </a:rPr>
                      <m:t>=</m:t>
                    </m:r>
                    <m:sSub>
                      <m:sSubPr>
                        <m:ctrlP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h</m:t>
                        </m:r>
                      </m:e>
                      <m:sub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en-US" sz="16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Calibri" pitchFamily="34" charset="-12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600" b="0" i="1" noProof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cs typeface="Calibri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noProof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cs typeface="Calibri" pitchFamily="34" charset="-12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is the predicted value from our model (hypothesis)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i="1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m</a:t>
                </a:r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 is the number of training examples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The cost function measures the average squared difference between predictions and reality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Squaring penalizes large errors more heavily than small ones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ea typeface="Calibri" pitchFamily="34" charset="-122"/>
                    <a:cs typeface="Calibri" pitchFamily="34" charset="-120"/>
                  </a:rPr>
                  <a:t>Our goal: find weights</a:t>
                </a:r>
                <a:endParaRPr lang="en-US" sz="1600" noProof="0" dirty="0"/>
              </a:p>
            </p:txBody>
          </p:sp>
        </mc:Choice>
        <mc:Fallback xmlns=""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2391784"/>
                <a:ext cx="8229599" cy="2011680"/>
              </a:xfrm>
              <a:prstGeom prst="rect">
                <a:avLst/>
              </a:prstGeom>
              <a:blipFill>
                <a:blip r:embed="rId4"/>
                <a:stretch>
                  <a:fillRect l="-462" b="-377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oogle Shape;254;g362a5d43a5f_0_213">
            <a:extLst>
              <a:ext uri="{FF2B5EF4-FFF2-40B4-BE49-F238E27FC236}">
                <a16:creationId xmlns:a16="http://schemas.microsoft.com/office/drawing/2014/main" id="{DDEE1882-56A4-C589-E781-CC0E5FFA35B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7555" y="1544389"/>
            <a:ext cx="3888889" cy="664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55;g362a5d43a5f_0_213">
            <a:extLst>
              <a:ext uri="{FF2B5EF4-FFF2-40B4-BE49-F238E27FC236}">
                <a16:creationId xmlns:a16="http://schemas.microsoft.com/office/drawing/2014/main" id="{66979536-5E6A-F917-B0A0-9D00377FC76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3142" y="4125781"/>
            <a:ext cx="870473" cy="236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362a5d43a5f_0_250" title="Screenshot 2025-07-10 at 10.32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76" y="689335"/>
            <a:ext cx="5395658" cy="3566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62a5d43a5f_0_250"/>
          <p:cNvSpPr txBox="1"/>
          <p:nvPr/>
        </p:nvSpPr>
        <p:spPr>
          <a:xfrm>
            <a:off x="5052409" y="4424827"/>
            <a:ext cx="4071682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r>
              <a:rPr lang="en-US" sz="1350" noProof="0" dirty="0"/>
              <a:t>Credits: </a:t>
            </a:r>
            <a:r>
              <a:rPr lang="en-US" sz="1350" u="sng" noProof="0" dirty="0">
                <a:solidFill>
                  <a:schemeClr val="hlink"/>
                </a:solidFill>
                <a:hlinkClick r:id="rId4"/>
              </a:rPr>
              <a:t>https://allmodelsarewrong.github.io/ols.html</a:t>
            </a:r>
            <a:r>
              <a:rPr lang="en-US" sz="1350" noProof="0" dirty="0"/>
              <a:t> </a:t>
            </a:r>
          </a:p>
        </p:txBody>
      </p:sp>
      <p:pic>
        <p:nvPicPr>
          <p:cNvPr id="264" name="Google Shape;264;g362a5d43a5f_0_2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207" y="1473862"/>
            <a:ext cx="3466087" cy="62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62a5d43a5f_0_2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4572" y="2533844"/>
            <a:ext cx="1421216" cy="30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4081D072-0F31-AE90-C02C-6B2A91D934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E7898A08-6DC3-01E4-30FD-C920C089DF45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3C17A27-9266-1E5A-A3AC-05B6CB5CD6B7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Function: Intuition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37936DC3-8FF6-29D6-88F5-747AD349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362a5d43a5f_0_250" title="Screenshot 2025-07-10 at 10.32.22 PM.png">
            <a:extLst>
              <a:ext uri="{FF2B5EF4-FFF2-40B4-BE49-F238E27FC236}">
                <a16:creationId xmlns:a16="http://schemas.microsoft.com/office/drawing/2014/main" id="{F2132931-6C13-2FC3-196C-9FA0D9A5EF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76" y="689335"/>
            <a:ext cx="5395658" cy="3566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62a5d43a5f_0_250">
            <a:extLst>
              <a:ext uri="{FF2B5EF4-FFF2-40B4-BE49-F238E27FC236}">
                <a16:creationId xmlns:a16="http://schemas.microsoft.com/office/drawing/2014/main" id="{F7C573A4-BE57-B410-59B3-E8D62BEF6E5C}"/>
              </a:ext>
            </a:extLst>
          </p:cNvPr>
          <p:cNvSpPr txBox="1"/>
          <p:nvPr/>
        </p:nvSpPr>
        <p:spPr>
          <a:xfrm>
            <a:off x="5052409" y="4424827"/>
            <a:ext cx="4071682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r>
              <a:rPr lang="en-US" sz="1350" noProof="0" dirty="0"/>
              <a:t>Credits: </a:t>
            </a:r>
            <a:r>
              <a:rPr lang="en-US" sz="1350" u="sng" noProof="0" dirty="0">
                <a:solidFill>
                  <a:schemeClr val="hlink"/>
                </a:solidFill>
                <a:hlinkClick r:id="rId4"/>
              </a:rPr>
              <a:t>https://allmodelsarewrong.github.io/ols.html</a:t>
            </a:r>
            <a:r>
              <a:rPr lang="en-US" sz="1350" noProof="0" dirty="0"/>
              <a:t> </a:t>
            </a:r>
          </a:p>
        </p:txBody>
      </p:sp>
      <p:pic>
        <p:nvPicPr>
          <p:cNvPr id="264" name="Google Shape;264;g362a5d43a5f_0_250">
            <a:extLst>
              <a:ext uri="{FF2B5EF4-FFF2-40B4-BE49-F238E27FC236}">
                <a16:creationId xmlns:a16="http://schemas.microsoft.com/office/drawing/2014/main" id="{1768EBE8-40B7-F69C-6F41-21AF2217EB5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207" y="1473862"/>
            <a:ext cx="3466087" cy="62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62a5d43a5f_0_250">
            <a:extLst>
              <a:ext uri="{FF2B5EF4-FFF2-40B4-BE49-F238E27FC236}">
                <a16:creationId xmlns:a16="http://schemas.microsoft.com/office/drawing/2014/main" id="{24C3CD05-93EF-91AA-857B-CD4CCB9FC7E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4572" y="2533844"/>
            <a:ext cx="1421216" cy="30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20C42C46-6427-AD08-2377-07AAC8A861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477AEA8-7D12-2AB9-099F-3E280849D593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78C4EBC-0324-C1B5-FA3F-60442957B670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Function: Intuition (cont’d)</a:t>
            </a:r>
            <a:endParaRPr lang="en-US" sz="2800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797D69-B210-F6A2-BAB2-7E8F0190FB57}"/>
              </a:ext>
            </a:extLst>
          </p:cNvPr>
          <p:cNvSpPr>
            <a:spLocks noChangeAspect="1"/>
          </p:cNvSpPr>
          <p:nvPr/>
        </p:nvSpPr>
        <p:spPr>
          <a:xfrm>
            <a:off x="3840811" y="1300945"/>
            <a:ext cx="525002" cy="52500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A8CCD-2B14-B390-CBF2-0073783D1020}"/>
              </a:ext>
            </a:extLst>
          </p:cNvPr>
          <p:cNvSpPr>
            <a:spLocks noChangeAspect="1"/>
          </p:cNvSpPr>
          <p:nvPr/>
        </p:nvSpPr>
        <p:spPr>
          <a:xfrm>
            <a:off x="3051916" y="2303933"/>
            <a:ext cx="1134602" cy="113460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E62FB-7294-59E8-3B19-81000B5B7B14}"/>
              </a:ext>
            </a:extLst>
          </p:cNvPr>
          <p:cNvSpPr>
            <a:spLocks noChangeAspect="1"/>
          </p:cNvSpPr>
          <p:nvPr/>
        </p:nvSpPr>
        <p:spPr>
          <a:xfrm>
            <a:off x="1572400" y="2571750"/>
            <a:ext cx="839726" cy="8397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781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6" grpId="1" animBg="1"/>
      <p:bldP spid="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62a5d43a5f_0_237" title="Screenshot 2025-07-01 at 6.50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13" y="958354"/>
            <a:ext cx="8842575" cy="376931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62a5d43a5f_0_237"/>
          <p:cNvSpPr txBox="1"/>
          <p:nvPr/>
        </p:nvSpPr>
        <p:spPr>
          <a:xfrm>
            <a:off x="1580728" y="712844"/>
            <a:ext cx="1940175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Feature Space</a:t>
            </a:r>
          </a:p>
        </p:txBody>
      </p:sp>
      <p:sp>
        <p:nvSpPr>
          <p:cNvPr id="285" name="Google Shape;285;g362a5d43a5f_0_237"/>
          <p:cNvSpPr txBox="1"/>
          <p:nvPr/>
        </p:nvSpPr>
        <p:spPr>
          <a:xfrm>
            <a:off x="5992594" y="712844"/>
            <a:ext cx="1940175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Parameter Space</a:t>
            </a:r>
          </a:p>
        </p:txBody>
      </p:sp>
      <p:pic>
        <p:nvPicPr>
          <p:cNvPr id="286" name="Google Shape;286;g362a5d43a5f_0_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488" y="722224"/>
            <a:ext cx="842381" cy="21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62a5d43a5f_0_2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3098" y="1115606"/>
            <a:ext cx="2679169" cy="3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6F4CE5B1-4C81-836D-E31E-B11E46262A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E612B8B1-2B3B-4AE7-0DDA-EF873EBBD553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9DE5FA9-2139-D7AE-C021-CFA88F5A6B3E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 Representation: 1D case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2a5d43a5f_0_263"/>
          <p:cNvSpPr txBox="1"/>
          <p:nvPr/>
        </p:nvSpPr>
        <p:spPr>
          <a:xfrm>
            <a:off x="5992594" y="775599"/>
            <a:ext cx="1940175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Parameter Space</a:t>
            </a:r>
          </a:p>
        </p:txBody>
      </p:sp>
      <p:pic>
        <p:nvPicPr>
          <p:cNvPr id="295" name="Google Shape;295;g362a5d43a5f_0_263" title="Screenshot 2025-07-01 at 7.11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078526"/>
            <a:ext cx="8915401" cy="3434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62a5d43a5f_0_263"/>
          <p:cNvSpPr txBox="1"/>
          <p:nvPr/>
        </p:nvSpPr>
        <p:spPr>
          <a:xfrm>
            <a:off x="1469588" y="775599"/>
            <a:ext cx="1940175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Feature Space</a:t>
            </a:r>
          </a:p>
        </p:txBody>
      </p:sp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0F73F993-068E-C395-DDAA-FED0DD790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99FD318F-1298-8C8D-773D-E2FF825992E1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5AE41F8-FB84-8B93-55E3-2CBADA42FA43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 Representation: 2D case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62a5d43a5f_0_274" title="Screenshot 2025-07-01 at 7.25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873" y="822960"/>
            <a:ext cx="4368731" cy="3925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36DD7E19-A70B-E4FB-BF60-9CCFF8194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1C219103-E170-4EBD-1B2B-8212EE55F7A0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2C294E3-EABF-37C5-1F0B-1378855AD7B7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 Representation: 3D case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C573D-8D0B-44A7-5C98-E85EE75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A10D9F-A207-CE02-FA40-437203831245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36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3796B6-6A81-5617-EBEC-02E39971BF59}"/>
              </a:ext>
            </a:extLst>
          </p:cNvPr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cost function, gradient descent, and the bias-variance trade-off</a:t>
            </a:r>
            <a:endParaRPr lang="en-US" sz="1800" noProof="0" dirty="0"/>
          </a:p>
        </p:txBody>
      </p:sp>
      <p:pic>
        <p:nvPicPr>
          <p:cNvPr id="4" name="Image 0" descr="/home/claude/nsf_leap_logo.png">
            <a:extLst>
              <a:ext uri="{FF2B5EF4-FFF2-40B4-BE49-F238E27FC236}">
                <a16:creationId xmlns:a16="http://schemas.microsoft.com/office/drawing/2014/main" id="{F6FF112A-4797-0D50-0EA7-CA25F9AAF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5" name="Up Arrow 4">
            <a:extLst>
              <a:ext uri="{FF2B5EF4-FFF2-40B4-BE49-F238E27FC236}">
                <a16:creationId xmlns:a16="http://schemas.microsoft.com/office/drawing/2014/main" id="{C22206EC-9029-578B-DF2B-D0875783FBF6}"/>
              </a:ext>
            </a:extLst>
          </p:cNvPr>
          <p:cNvSpPr/>
          <p:nvPr/>
        </p:nvSpPr>
        <p:spPr>
          <a:xfrm>
            <a:off x="4033581" y="3108960"/>
            <a:ext cx="484632" cy="978408"/>
          </a:xfrm>
          <a:prstGeom prst="upArrow">
            <a:avLst/>
          </a:prstGeom>
          <a:solidFill>
            <a:srgbClr val="B1C4DF"/>
          </a:solidFill>
          <a:ln>
            <a:solidFill>
              <a:srgbClr val="B1C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161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c5bba06b4_0_4"/>
          <p:cNvSpPr txBox="1"/>
          <p:nvPr/>
        </p:nvSpPr>
        <p:spPr>
          <a:xfrm>
            <a:off x="452475" y="1165256"/>
            <a:ext cx="8691525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420019" indent="-285750"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Have some cost function 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Want to 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Steps:</a:t>
            </a:r>
          </a:p>
          <a:p>
            <a:pPr marL="700087" lvl="1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Start with some </a:t>
            </a:r>
          </a:p>
          <a:p>
            <a:pPr marL="700087" lvl="1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Keep updating                       to reduce</a:t>
            </a:r>
          </a:p>
          <a:p>
            <a:pPr marL="700087" lvl="1" indent="-28575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Hopefully, after some iterations we end up at a minimum of the cost → optimal params </a:t>
            </a:r>
          </a:p>
        </p:txBody>
      </p:sp>
      <p:pic>
        <p:nvPicPr>
          <p:cNvPr id="316" name="Google Shape;316;g36c5bba06b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5201" y="1033427"/>
            <a:ext cx="1339163" cy="3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6c5bba06b4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0586" y="1496703"/>
            <a:ext cx="2044196" cy="578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6c5bba06b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027" y="2862881"/>
            <a:ext cx="1339163" cy="3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6c5bba06b4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8763" y="2417155"/>
            <a:ext cx="813375" cy="348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6c5bba06b4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2000" y="2904450"/>
            <a:ext cx="813356" cy="348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002A22BD-60A4-460D-32E9-75190AB20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5EB5DBB6-BB4D-8356-5A61-0A529EAB9A1C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BFC54B9-627B-C4F1-0B11-A718BE01CFDE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Minimizing the Cost Function</a:t>
            </a:r>
            <a:endParaRPr lang="en-US" sz="28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E3A5D8-5F06-D39B-385E-080F2FDBF58F}"/>
              </a:ext>
            </a:extLst>
          </p:cNvPr>
          <p:cNvSpPr/>
          <p:nvPr/>
        </p:nvSpPr>
        <p:spPr>
          <a:xfrm>
            <a:off x="683437" y="39782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but in which way should we keep updating the parameters?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Descent: Intuition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standing on a hilly landscape in fog. You want to reach the lowest valley.</a:t>
            </a:r>
            <a:endParaRPr lang="en-US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Feel the slope under your feet (compute gradient)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tells you which direction is uphill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Take a step downhill (update weights)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 the opposite direction of the gradient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Repeat until you reach a valley (convergence)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gradient is near zero, you've found a minimum</a:t>
            </a:r>
            <a:endParaRPr lang="en-US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8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minima: for non-convex functions, you might get stuck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 points: flat regions where gradient is near zero but not a minimum</a:t>
            </a:r>
            <a:endParaRPr lang="en-US" sz="14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optimization algorithm to find the minimum of the cost function.</a:t>
            </a:r>
            <a:endParaRPr lang="en-US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rule</a:t>
            </a:r>
            <a:endParaRPr lang="en-US" sz="18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5"/>
              <p:cNvSpPr/>
              <p:nvPr/>
            </p:nvSpPr>
            <p:spPr>
              <a:xfrm>
                <a:off x="640080" y="2905124"/>
                <a:ext cx="7772400" cy="1828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𝛼</m:t>
                    </m:r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learning rate controls the step size, typically a small number (e.g., 0.001)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𝜕</m:t>
                    </m:r>
                    <m:r>
                      <a:rPr lang="en-US" sz="1600" b="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𝐽</m:t>
                    </m:r>
                    <m:d>
                      <m:dPr>
                        <m:ctrlPr>
                          <a:rPr lang="en-US" sz="16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𝜃</m:t>
                        </m:r>
                      </m:e>
                    </m:d>
                    <m:r>
                      <m:rPr>
                        <m:lit/>
                      </m:rPr>
                      <a:rPr lang="en-US" sz="1600" b="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/</m:t>
                    </m:r>
                    <m:r>
                      <a:rPr lang="en-US" sz="1600" b="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𝜕</m:t>
                    </m:r>
                    <m:sSub>
                      <m:sSubPr>
                        <m:ctrlP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𝜃</m:t>
                        </m:r>
                      </m:e>
                      <m:sub>
                        <m:r>
                          <a:rPr lang="en-US" sz="16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gradient: points in the direction of steepest ascent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We move in the opposite direction (steepest descent) to reduce the cost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Repeat until convergence (cost stops decreasing significantly)</a:t>
                </a:r>
                <a:endParaRPr lang="en-US" sz="1600" noProof="0" dirty="0"/>
              </a:p>
            </p:txBody>
          </p:sp>
        </mc:Choice>
        <mc:Fallback xmlns=""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905124"/>
                <a:ext cx="7772400" cy="1828800"/>
              </a:xfrm>
              <a:prstGeom prst="rect">
                <a:avLst/>
              </a:prstGeom>
              <a:blipFill>
                <a:blip r:embed="rId4"/>
                <a:stretch>
                  <a:fillRect l="-48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37;g36c5bba06b4_0_21">
            <a:extLst>
              <a:ext uri="{FF2B5EF4-FFF2-40B4-BE49-F238E27FC236}">
                <a16:creationId xmlns:a16="http://schemas.microsoft.com/office/drawing/2014/main" id="{15B74133-E9B1-C57D-B15D-4BA74133C07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0957" y="1764681"/>
            <a:ext cx="3822086" cy="95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43;g36c5bba06b4_0_21">
            <a:extLst>
              <a:ext uri="{FF2B5EF4-FFF2-40B4-BE49-F238E27FC236}">
                <a16:creationId xmlns:a16="http://schemas.microsoft.com/office/drawing/2014/main" id="{082C382E-CA6A-369D-058A-6F99FD259AA9}"/>
              </a:ext>
            </a:extLst>
          </p:cNvPr>
          <p:cNvSpPr txBox="1"/>
          <p:nvPr/>
        </p:nvSpPr>
        <p:spPr>
          <a:xfrm>
            <a:off x="274320" y="2548508"/>
            <a:ext cx="1940175" cy="55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Update the previous value with the new</a:t>
            </a:r>
          </a:p>
        </p:txBody>
      </p:sp>
      <p:cxnSp>
        <p:nvCxnSpPr>
          <p:cNvPr id="11" name="Google Shape;344;g36c5bba06b4_0_21">
            <a:extLst>
              <a:ext uri="{FF2B5EF4-FFF2-40B4-BE49-F238E27FC236}">
                <a16:creationId xmlns:a16="http://schemas.microsoft.com/office/drawing/2014/main" id="{3C76E859-22B6-3FF2-2FD3-5AF5C98A818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14495" y="2468880"/>
            <a:ext cx="913334" cy="356616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339;g36c5bba06b4_0_21">
            <a:extLst>
              <a:ext uri="{FF2B5EF4-FFF2-40B4-BE49-F238E27FC236}">
                <a16:creationId xmlns:a16="http://schemas.microsoft.com/office/drawing/2014/main" id="{404FA8F9-8079-E176-9CFA-C493D8EC2280}"/>
              </a:ext>
            </a:extLst>
          </p:cNvPr>
          <p:cNvSpPr txBox="1"/>
          <p:nvPr/>
        </p:nvSpPr>
        <p:spPr>
          <a:xfrm>
            <a:off x="2854427" y="1388782"/>
            <a:ext cx="1940175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Learning Rate</a:t>
            </a:r>
          </a:p>
        </p:txBody>
      </p:sp>
      <p:cxnSp>
        <p:nvCxnSpPr>
          <p:cNvPr id="16" name="Google Shape;344;g36c5bba06b4_0_21">
            <a:extLst>
              <a:ext uri="{FF2B5EF4-FFF2-40B4-BE49-F238E27FC236}">
                <a16:creationId xmlns:a16="http://schemas.microsoft.com/office/drawing/2014/main" id="{9E2DB323-8FEA-0E7D-62E8-EF5B317697AC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824515" y="1735008"/>
            <a:ext cx="689428" cy="356616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340;g36c5bba06b4_0_21">
                <a:extLst>
                  <a:ext uri="{FF2B5EF4-FFF2-40B4-BE49-F238E27FC236}">
                    <a16:creationId xmlns:a16="http://schemas.microsoft.com/office/drawing/2014/main" id="{E45CB568-4479-FF90-BF34-EA31AEACCC38}"/>
                  </a:ext>
                </a:extLst>
              </p:cNvPr>
              <p:cNvSpPr txBox="1"/>
              <p:nvPr/>
            </p:nvSpPr>
            <p:spPr>
              <a:xfrm>
                <a:off x="6016173" y="2647188"/>
                <a:ext cx="2324925" cy="5735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spAutoFit/>
              </a:bodyPr>
              <a:lstStyle/>
              <a:p>
                <a:pPr algn="ctr"/>
                <a:r>
                  <a:rPr lang="en-US" sz="1350" b="1" noProof="0" dirty="0">
                    <a:solidFill>
                      <a:srgbClr val="FF0000"/>
                    </a:solidFill>
                    <a:latin typeface="Avenir"/>
                    <a:ea typeface="Avenir"/>
                    <a:cs typeface="Avenir"/>
                    <a:sym typeface="Avenir"/>
                  </a:rPr>
                  <a:t>Partial derivative of the Cost with respect to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venir"/>
                            <a:cs typeface="Avenir"/>
                            <a:sym typeface="Avenir"/>
                          </a:rPr>
                        </m:ctrlPr>
                      </m:sSubPr>
                      <m:e>
                        <m:r>
                          <a:rPr lang="en-US" sz="135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venir"/>
                            <a:cs typeface="Avenir"/>
                            <a:sym typeface="Avenir"/>
                          </a:rPr>
                          <m:t>𝜽</m:t>
                        </m:r>
                      </m:e>
                      <m:sub>
                        <m:r>
                          <a:rPr lang="en-US" sz="1350" b="1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venir"/>
                            <a:cs typeface="Avenir"/>
                            <a:sym typeface="Avenir"/>
                          </a:rPr>
                          <m:t>𝒋</m:t>
                        </m:r>
                      </m:sub>
                    </m:sSub>
                  </m:oMath>
                </a14:m>
                <a:endParaRPr lang="en-US" sz="1350" b="1" i="1" noProof="0" dirty="0">
                  <a:solidFill>
                    <a:srgbClr val="FF0000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mc:Choice>
        <mc:Fallback xmlns="">
          <p:sp>
            <p:nvSpPr>
              <p:cNvPr id="20" name="Google Shape;340;g36c5bba06b4_0_21">
                <a:extLst>
                  <a:ext uri="{FF2B5EF4-FFF2-40B4-BE49-F238E27FC236}">
                    <a16:creationId xmlns:a16="http://schemas.microsoft.com/office/drawing/2014/main" id="{E45CB568-4479-FF90-BF34-EA31AEACC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173" y="2647188"/>
                <a:ext cx="2324925" cy="573596"/>
              </a:xfrm>
              <a:prstGeom prst="rect">
                <a:avLst/>
              </a:prstGeom>
              <a:blipFill>
                <a:blip r:embed="rId6"/>
                <a:stretch>
                  <a:fillRect l="-1087" r="-2717" b="-2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oogle Shape;344;g36c5bba06b4_0_21">
            <a:extLst>
              <a:ext uri="{FF2B5EF4-FFF2-40B4-BE49-F238E27FC236}">
                <a16:creationId xmlns:a16="http://schemas.microsoft.com/office/drawing/2014/main" id="{DA2EC6A3-68DA-5181-0272-0CA49A691574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402204"/>
            <a:ext cx="224971" cy="25146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g36c5bba06b4_0_0"/>
          <p:cNvGrpSpPr/>
          <p:nvPr/>
        </p:nvGrpSpPr>
        <p:grpSpPr>
          <a:xfrm>
            <a:off x="1155478" y="815081"/>
            <a:ext cx="6833044" cy="4099819"/>
            <a:chOff x="1540638" y="452275"/>
            <a:chExt cx="9110725" cy="5466425"/>
          </a:xfrm>
        </p:grpSpPr>
        <p:pic>
          <p:nvPicPr>
            <p:cNvPr id="326" name="Google Shape;326;g36c5bba06b4_0_0" title="Screenshot 2025-07-02 at 10.23.55 A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40638" y="452275"/>
              <a:ext cx="9110725" cy="546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g36c5bba06b4_0_0"/>
            <p:cNvSpPr/>
            <p:nvPr/>
          </p:nvSpPr>
          <p:spPr>
            <a:xfrm>
              <a:off x="1621725" y="3463350"/>
              <a:ext cx="824700" cy="233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lang="en-US" sz="1350" noProof="0" dirty="0"/>
            </a:p>
          </p:txBody>
        </p:sp>
        <p:sp>
          <p:nvSpPr>
            <p:cNvPr id="328" name="Google Shape;328;g36c5bba06b4_0_0"/>
            <p:cNvSpPr/>
            <p:nvPr/>
          </p:nvSpPr>
          <p:spPr>
            <a:xfrm>
              <a:off x="4014325" y="5498600"/>
              <a:ext cx="824700" cy="233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lang="en-US" sz="1350" noProof="0" dirty="0"/>
            </a:p>
          </p:txBody>
        </p:sp>
        <p:sp>
          <p:nvSpPr>
            <p:cNvPr id="329" name="Google Shape;329;g36c5bba06b4_0_0"/>
            <p:cNvSpPr/>
            <p:nvPr/>
          </p:nvSpPr>
          <p:spPr>
            <a:xfrm>
              <a:off x="9196850" y="5128750"/>
              <a:ext cx="824700" cy="233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lang="en-US" sz="1350" noProof="0" dirty="0"/>
            </a:p>
          </p:txBody>
        </p:sp>
      </p:grpSp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943CC57D-813B-1978-502A-2461FD8CF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A515C6D0-EF37-5A1B-4F0C-F513727B437E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FD3970A-EB6A-AA6B-65F3-2A91317B2357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 Representation: 3D case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g362c7e37727_0_3"/>
          <p:cNvPicPr preferRelativeResize="0"/>
          <p:nvPr/>
        </p:nvPicPr>
        <p:blipFill rotWithShape="1">
          <a:blip r:embed="rId3">
            <a:alphaModFix/>
          </a:blip>
          <a:srcRect b="22112"/>
          <a:stretch/>
        </p:blipFill>
        <p:spPr>
          <a:xfrm>
            <a:off x="457200" y="1141754"/>
            <a:ext cx="3709613" cy="295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62c7e37727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1425" y="1472457"/>
            <a:ext cx="4194469" cy="335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62c7e37727_0_3"/>
          <p:cNvSpPr txBox="1"/>
          <p:nvPr/>
        </p:nvSpPr>
        <p:spPr>
          <a:xfrm>
            <a:off x="884906" y="3971963"/>
            <a:ext cx="7132275" cy="76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b="1" noProof="0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The learning rate can be fixed to a small (positive) number. Even fixed, Gradient Descent will automatically take small steps as we approach a local minimum. So, no need to decrease the learning rate over time (that’s not always true).</a:t>
            </a:r>
            <a:endParaRPr lang="en-US" sz="1350" b="1" i="1" noProof="0" dirty="0">
              <a:solidFill>
                <a:srgbClr val="FF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82" name="Google Shape;382;g362c7e37727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0886" y="277516"/>
            <a:ext cx="1980427" cy="49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01849703-30C3-01B8-38EC-C5B09FA2DD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E01ABB48-DCC3-FC75-D466-86394253D570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A61130E-AC3E-2331-7881-FF368F35387F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choose the learning rate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2c7e37727_0_48"/>
          <p:cNvSpPr txBox="1"/>
          <p:nvPr/>
        </p:nvSpPr>
        <p:spPr>
          <a:xfrm>
            <a:off x="274320" y="909012"/>
            <a:ext cx="4849425" cy="370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420019" indent="-285750"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Selecting the appropriate learning rate is often a trial-and-error process.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When features vary widely in magnitude, gradient descent may struggle to converge efficiently.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To address this, it's helpful to scale features to a similar range, typically between 0 and 1.</a:t>
            </a:r>
          </a:p>
          <a:p>
            <a:pPr marL="700087" lvl="1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Min-Max Normalization: Rescales features to a fixed range, usually [0, 1].</a:t>
            </a:r>
          </a:p>
          <a:p>
            <a:pPr marL="700087" lvl="1" indent="-28575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Standardization (Z-score Normalization): Transforms features to have zero mean and unit variance.</a:t>
            </a:r>
          </a:p>
        </p:txBody>
      </p:sp>
      <p:pic>
        <p:nvPicPr>
          <p:cNvPr id="427" name="Google Shape;427;g362c7e37727_0_48" title="Screenshot 2025-07-02 at 2.29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224" y="1758093"/>
            <a:ext cx="3737456" cy="1627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722FDC30-A1AF-56D7-057A-26E16793F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89BF2695-9785-4104-5F7A-085A384A5259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6F91484-1732-AFEE-B925-D19E34183CB7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Descent: Pitfalls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2c7e37727_0_86"/>
          <p:cNvSpPr txBox="1"/>
          <p:nvPr/>
        </p:nvSpPr>
        <p:spPr>
          <a:xfrm>
            <a:off x="196802" y="822960"/>
            <a:ext cx="6576860" cy="3901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420019" indent="-285750"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Batch Gradient Descent</a:t>
            </a: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: Computes the gradient using the entire training set at each step. Requires a lot of memory!!!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Stochastic Gradient Descent</a:t>
            </a: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: Uses one random instance per step, requiring less memory.</a:t>
            </a:r>
          </a:p>
          <a:p>
            <a:pPr marL="700087" lvl="1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The randomness makes the cost function fluctuate, though it decreases on average.</a:t>
            </a:r>
          </a:p>
          <a:p>
            <a:pPr marL="700087" lvl="1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Final parameters are typically close to optimal, but not exact due to the noise.</a:t>
            </a:r>
          </a:p>
          <a:p>
            <a:pPr marL="700087" lvl="1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This "bouncing" can help escape local minima in non-convex cost functions.</a:t>
            </a:r>
          </a:p>
          <a:p>
            <a:pPr marL="420019" indent="-28575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Mitigation: gradually decrease the learning rate using a learning schedule.</a:t>
            </a:r>
          </a:p>
        </p:txBody>
      </p:sp>
      <p:pic>
        <p:nvPicPr>
          <p:cNvPr id="447" name="Google Shape;447;g362c7e37727_0_86" title="Screenshot 2025-07-02 at 2.51.45 PM.png"/>
          <p:cNvPicPr preferRelativeResize="0"/>
          <p:nvPr/>
        </p:nvPicPr>
        <p:blipFill>
          <a:blip r:embed="rId3">
            <a:alphaModFix/>
          </a:blip>
          <a:srcRect t="3596"/>
          <a:stretch>
            <a:fillRect/>
          </a:stretch>
        </p:blipFill>
        <p:spPr>
          <a:xfrm>
            <a:off x="6620232" y="1482570"/>
            <a:ext cx="2424524" cy="174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522A207D-AD88-4E4F-5020-5042A18D4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564106FC-253E-347B-D809-E3100D08E52B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54A1CB1-8D9C-2E42-C54C-42A564941133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Stochastic Gradient Descent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62c7e37727_0_99"/>
          <p:cNvSpPr txBox="1"/>
          <p:nvPr/>
        </p:nvSpPr>
        <p:spPr>
          <a:xfrm>
            <a:off x="232313" y="1112400"/>
            <a:ext cx="5952375" cy="346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420019" indent="-285750"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A compromise between Batch (entire dataset) and Stochastic (single instance) gradient descent.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Computes gradients using small random subsets of the training data, called mini-batches (e.g., 32, 64, 128 instances).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Offers a good balance between computation efficiency and convergence stability.</a:t>
            </a:r>
          </a:p>
          <a:p>
            <a:pPr marL="420019" indent="-285750">
              <a:spcBef>
                <a:spcPts val="150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Smoother convergence, but the reduced noise can make it harder to escape local minima or flat regions</a:t>
            </a:r>
          </a:p>
          <a:p>
            <a:pPr marL="420019" indent="-28575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dk1"/>
                </a:solidFill>
                <a:ea typeface="Avenir"/>
                <a:cs typeface="Avenir"/>
                <a:sym typeface="Avenir"/>
              </a:rPr>
              <a:t>Often used in practice due to its efficiency on large datasets and compatibility with GPU acceleration.</a:t>
            </a:r>
          </a:p>
        </p:txBody>
      </p:sp>
      <p:pic>
        <p:nvPicPr>
          <p:cNvPr id="455" name="Google Shape;455;g362c7e37727_0_99" title="Screenshot 2025-07-01 at 10.10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876" y="767860"/>
            <a:ext cx="2846124" cy="326498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62c7e37727_0_99"/>
          <p:cNvSpPr/>
          <p:nvPr/>
        </p:nvSpPr>
        <p:spPr>
          <a:xfrm>
            <a:off x="6483488" y="1082306"/>
            <a:ext cx="2576925" cy="91732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lang="en-US" sz="1350" noProof="0" dirty="0"/>
          </a:p>
        </p:txBody>
      </p:sp>
      <p:pic>
        <p:nvPicPr>
          <p:cNvPr id="2" name="Image 0" descr="/home/claude/nsf_leap_logo.png">
            <a:extLst>
              <a:ext uri="{FF2B5EF4-FFF2-40B4-BE49-F238E27FC236}">
                <a16:creationId xmlns:a16="http://schemas.microsoft.com/office/drawing/2014/main" id="{DEA47CAD-E28E-9497-FD12-74EC5A5C5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404DBC4C-E8D9-789B-F650-F96D8BA7BD2E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49B6E20-E43F-005F-205E-5657881D0AFF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Mini-batch Gradient Descent</a:t>
            </a:r>
            <a:endParaRPr lang="en-US" sz="28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Regression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linear regression by adding polynomial features.</a:t>
            </a:r>
            <a:endParaRPr lang="en-US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linear model in terms of weights (linear in parameters)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capture non-linear relationships in data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degree = more flexible model, but 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of overfitting</a:t>
            </a:r>
            <a:endParaRPr lang="en-US" sz="1600" b="1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how do we choose the right polynomial degree?</a:t>
            </a:r>
            <a:endParaRPr lang="en-US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us to the bias-variance trade-off...</a:t>
            </a:r>
            <a:endParaRPr lang="en-US" sz="1400" noProof="0" dirty="0"/>
          </a:p>
        </p:txBody>
      </p:sp>
      <p:pic>
        <p:nvPicPr>
          <p:cNvPr id="9" name="Google Shape;126;g362a5d43a5f_0_128">
            <a:extLst>
              <a:ext uri="{FF2B5EF4-FFF2-40B4-BE49-F238E27FC236}">
                <a16:creationId xmlns:a16="http://schemas.microsoft.com/office/drawing/2014/main" id="{412E58AA-C552-901C-E9D5-4E652015C28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040" y="1559635"/>
            <a:ext cx="6400800" cy="3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7;g362a5d43a5f_0_128">
            <a:extLst>
              <a:ext uri="{FF2B5EF4-FFF2-40B4-BE49-F238E27FC236}">
                <a16:creationId xmlns:a16="http://schemas.microsoft.com/office/drawing/2014/main" id="{94B6DD0C-1EBA-EED8-989F-7D1C2D089A32}"/>
              </a:ext>
            </a:extLst>
          </p:cNvPr>
          <p:cNvSpPr/>
          <p:nvPr/>
        </p:nvSpPr>
        <p:spPr>
          <a:xfrm>
            <a:off x="4710018" y="1435608"/>
            <a:ext cx="1923011" cy="60350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56BE4-E1C6-8CAC-D5FF-7CB6F8DA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494927-8AA4-7CDC-C094-C3661AE10C05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36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A4B2FC-C411-31F3-84E9-94E0ECB532B0}"/>
              </a:ext>
            </a:extLst>
          </p:cNvPr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cost function, gradient descent, and the bias-variance trade-off</a:t>
            </a:r>
            <a:endParaRPr lang="en-US" sz="1800" noProof="0" dirty="0"/>
          </a:p>
        </p:txBody>
      </p:sp>
      <p:pic>
        <p:nvPicPr>
          <p:cNvPr id="4" name="Image 0" descr="/home/claude/nsf_leap_logo.png">
            <a:extLst>
              <a:ext uri="{FF2B5EF4-FFF2-40B4-BE49-F238E27FC236}">
                <a16:creationId xmlns:a16="http://schemas.microsoft.com/office/drawing/2014/main" id="{5EC11AC0-2770-9B51-08F2-D82C60A89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5" name="Up Arrow 4">
            <a:extLst>
              <a:ext uri="{FF2B5EF4-FFF2-40B4-BE49-F238E27FC236}">
                <a16:creationId xmlns:a16="http://schemas.microsoft.com/office/drawing/2014/main" id="{84B2ADA7-8D65-E25E-F902-4486861872C0}"/>
              </a:ext>
            </a:extLst>
          </p:cNvPr>
          <p:cNvSpPr/>
          <p:nvPr/>
        </p:nvSpPr>
        <p:spPr>
          <a:xfrm>
            <a:off x="6652493" y="3108960"/>
            <a:ext cx="484632" cy="978408"/>
          </a:xfrm>
          <a:prstGeom prst="upArrow">
            <a:avLst/>
          </a:prstGeom>
          <a:solidFill>
            <a:srgbClr val="B1C4DF"/>
          </a:solidFill>
          <a:ln>
            <a:solidFill>
              <a:srgbClr val="B1C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62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6d81581404_0_51" title="Screenshot 2025-07-07 at 5.16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661" y="1018678"/>
            <a:ext cx="4156195" cy="389618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6d81581404_0_51"/>
          <p:cNvSpPr/>
          <p:nvPr/>
        </p:nvSpPr>
        <p:spPr>
          <a:xfrm>
            <a:off x="6966638" y="1212037"/>
            <a:ext cx="1863900" cy="125539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noProof="0" dirty="0">
                <a:latin typeface="Avenir"/>
                <a:ea typeface="Avenir"/>
                <a:cs typeface="Avenir"/>
                <a:sym typeface="Avenir"/>
              </a:rPr>
              <a:t>Polynomial models of degree higher than 10 are probably too complex and may overfit training data</a:t>
            </a:r>
          </a:p>
        </p:txBody>
      </p:sp>
      <p:sp>
        <p:nvSpPr>
          <p:cNvPr id="155" name="Google Shape;155;g36d81581404_0_51"/>
          <p:cNvSpPr/>
          <p:nvPr/>
        </p:nvSpPr>
        <p:spPr>
          <a:xfrm>
            <a:off x="328200" y="2917371"/>
            <a:ext cx="1863900" cy="127107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noProof="0" dirty="0">
                <a:latin typeface="Avenir"/>
                <a:ea typeface="Avenir"/>
                <a:cs typeface="Avenir"/>
                <a:sym typeface="Avenir"/>
              </a:rPr>
              <a:t>The polynomial degree 1 model (standard Linear Regression) is probably too simple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2778285-6087-C49F-B98D-F6CC8E47BED1}"/>
              </a:ext>
            </a:extLst>
          </p:cNvPr>
          <p:cNvSpPr/>
          <p:nvPr/>
        </p:nvSpPr>
        <p:spPr>
          <a:xfrm>
            <a:off x="457200" y="228600"/>
            <a:ext cx="8373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Overfitting: How to Choose the Right Polynomial Degree?</a:t>
            </a:r>
            <a:endParaRPr lang="en-US" sz="2800" noProof="0" dirty="0"/>
          </a:p>
        </p:txBody>
      </p:sp>
      <p:pic>
        <p:nvPicPr>
          <p:cNvPr id="5" name="Image 0" descr="/home/claude/nsf_leap_logo.png">
            <a:extLst>
              <a:ext uri="{FF2B5EF4-FFF2-40B4-BE49-F238E27FC236}">
                <a16:creationId xmlns:a16="http://schemas.microsoft.com/office/drawing/2014/main" id="{2321C192-BF58-696D-15B9-9B4230C57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1D3C5E7C-DA5F-2734-62B9-F7DBF90C4536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Bias-Variance Trade-off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27432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Underfitting</a:t>
            </a:r>
            <a:endParaRPr lang="en-US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bias, low variance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too simple.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the true pattern.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on both training and test data.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fitting a line to clearly curved data</a:t>
            </a:r>
          </a:p>
          <a:p>
            <a:pPr marL="0" indent="0" algn="l">
              <a:buNone/>
            </a:pPr>
            <a:endParaRPr lang="en-US" sz="1100" dirty="0">
              <a:solidFill>
                <a:srgbClr val="333333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00" b="1" noProof="0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Solution</a:t>
            </a: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: Add more parameters in the model (e.g., consider additional polynomial features) </a:t>
            </a:r>
            <a:endParaRPr lang="en-US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560320" cy="2743200"/>
          </a:xfrm>
          <a:prstGeom prst="rect">
            <a:avLst/>
          </a:prstGeom>
          <a:solidFill>
            <a:srgbClr val="E8F5F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6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Right</a:t>
            </a:r>
            <a:endParaRPr lang="en-US" sz="1500" noProof="0" dirty="0"/>
          </a:p>
        </p:txBody>
      </p:sp>
      <p:sp>
        <p:nvSpPr>
          <p:cNvPr id="10" name="Text 7"/>
          <p:cNvSpPr/>
          <p:nvPr/>
        </p:nvSpPr>
        <p:spPr>
          <a:xfrm>
            <a:off x="3383280" y="14630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captures the underlying pattern without memorizing noise.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on both training and test data.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sweet spot we aim for.</a:t>
            </a:r>
            <a:endParaRPr lang="en-US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6126480" y="1051560"/>
            <a:ext cx="2560320" cy="27432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9"/>
          <p:cNvSpPr/>
          <p:nvPr/>
        </p:nvSpPr>
        <p:spPr>
          <a:xfrm>
            <a:off x="612648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</a:t>
            </a:r>
            <a:endParaRPr lang="en-US" sz="1500" noProof="0" dirty="0"/>
          </a:p>
        </p:txBody>
      </p:sp>
      <p:sp>
        <p:nvSpPr>
          <p:cNvPr id="13" name="Text 10"/>
          <p:cNvSpPr/>
          <p:nvPr/>
        </p:nvSpPr>
        <p:spPr>
          <a:xfrm>
            <a:off x="6217920" y="14630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bias, high variance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too complex.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Memorizes training data including noise.</a:t>
            </a: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on training, poor on unseen data.</a:t>
            </a:r>
            <a:endParaRPr lang="en-US" sz="1100" noProof="0" dirty="0"/>
          </a:p>
          <a:p>
            <a:pPr marL="0" indent="0" algn="l">
              <a:buNone/>
            </a:pPr>
            <a:endParaRPr lang="en-US" sz="1100" noProof="0" dirty="0"/>
          </a:p>
          <a:p>
            <a:pPr marL="0" indent="0" algn="l">
              <a:buNone/>
            </a:pPr>
            <a:r>
              <a:rPr lang="en-US" sz="11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degree-20 polynomial for 10 data points</a:t>
            </a:r>
          </a:p>
          <a:p>
            <a:pPr marL="0" indent="0" algn="l">
              <a:buNone/>
            </a:pPr>
            <a:endParaRPr lang="en-US" sz="1100" dirty="0">
              <a:solidFill>
                <a:srgbClr val="333333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Solution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: Reduce the model complexity, e.g., reduce the parameters of the model, add more data, use regularization techniques (see next)</a:t>
            </a:r>
            <a:endParaRPr lang="en-US" sz="1100" dirty="0"/>
          </a:p>
          <a:p>
            <a:pPr marL="0" indent="0" algn="l">
              <a:buNone/>
            </a:pPr>
            <a:endParaRPr lang="en-US" sz="1100" noProof="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ED1C0D9-822C-1C89-1FBC-C51A4511CD32}"/>
              </a:ext>
            </a:extLst>
          </p:cNvPr>
          <p:cNvSpPr/>
          <p:nvPr/>
        </p:nvSpPr>
        <p:spPr>
          <a:xfrm>
            <a:off x="548640" y="3977639"/>
            <a:ext cx="7772400" cy="64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do in practice, and how can you understand which case you are in?</a:t>
            </a:r>
          </a:p>
          <a:p>
            <a:pPr marL="0" indent="0">
              <a:buNone/>
            </a:pPr>
            <a:endParaRPr lang="en-US" sz="1400" b="1" dirty="0">
              <a:solidFill>
                <a:srgbClr val="2A8C8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some validation examples apart (not seen during training), and plot learning curves</a:t>
            </a:r>
          </a:p>
          <a:p>
            <a:pPr marL="0" indent="0">
              <a:buNone/>
            </a:pPr>
            <a:endParaRPr lang="en-US" sz="1400" b="1" noProof="0" dirty="0">
              <a:solidFill>
                <a:srgbClr val="2A8C8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4a2590ea4_0_0"/>
          <p:cNvSpPr/>
          <p:nvPr/>
        </p:nvSpPr>
        <p:spPr>
          <a:xfrm>
            <a:off x="818288" y="1670970"/>
            <a:ext cx="4096500" cy="2645438"/>
          </a:xfrm>
          <a:custGeom>
            <a:avLst/>
            <a:gdLst/>
            <a:ahLst/>
            <a:cxnLst/>
            <a:rect l="l" t="t" r="r" b="b"/>
            <a:pathLst>
              <a:path w="218480" h="141090" extrusionOk="0">
                <a:moveTo>
                  <a:pt x="0" y="0"/>
                </a:moveTo>
                <a:cubicBezTo>
                  <a:pt x="9922" y="19844"/>
                  <a:pt x="23118" y="95548"/>
                  <a:pt x="59531" y="119063"/>
                </a:cubicBezTo>
                <a:cubicBezTo>
                  <a:pt x="95944" y="142578"/>
                  <a:pt x="191989" y="137419"/>
                  <a:pt x="218480" y="141090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 noProof="0" dirty="0"/>
          </a:p>
        </p:txBody>
      </p:sp>
      <p:cxnSp>
        <p:nvCxnSpPr>
          <p:cNvPr id="220" name="Google Shape;220;g344a2590ea4_0_0"/>
          <p:cNvCxnSpPr/>
          <p:nvPr/>
        </p:nvCxnSpPr>
        <p:spPr>
          <a:xfrm rot="10800000">
            <a:off x="676425" y="1192377"/>
            <a:ext cx="23850" cy="335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g344a2590ea4_0_0"/>
          <p:cNvCxnSpPr/>
          <p:nvPr/>
        </p:nvCxnSpPr>
        <p:spPr>
          <a:xfrm>
            <a:off x="534938" y="4400952"/>
            <a:ext cx="4519575" cy="2182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" name="Google Shape;222;g344a2590ea4_0_0"/>
          <p:cNvSpPr txBox="1"/>
          <p:nvPr/>
        </p:nvSpPr>
        <p:spPr>
          <a:xfrm>
            <a:off x="2077346" y="4459328"/>
            <a:ext cx="1684950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noProof="0" dirty="0">
                <a:latin typeface="Avenir"/>
                <a:ea typeface="Avenir"/>
                <a:cs typeface="Avenir"/>
                <a:sym typeface="Avenir"/>
              </a:rPr>
              <a:t>Model complexity</a:t>
            </a:r>
          </a:p>
        </p:txBody>
      </p:sp>
      <p:sp>
        <p:nvSpPr>
          <p:cNvPr id="223" name="Google Shape;223;g344a2590ea4_0_0"/>
          <p:cNvSpPr txBox="1"/>
          <p:nvPr/>
        </p:nvSpPr>
        <p:spPr>
          <a:xfrm rot="-5400000">
            <a:off x="-876525" y="2327189"/>
            <a:ext cx="2615850" cy="34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1350" noProof="0" dirty="0">
                <a:latin typeface="Avenir"/>
                <a:ea typeface="Avenir"/>
                <a:cs typeface="Avenir"/>
                <a:sym typeface="Avenir"/>
              </a:rPr>
              <a:t>Cost</a:t>
            </a:r>
          </a:p>
        </p:txBody>
      </p:sp>
      <p:sp>
        <p:nvSpPr>
          <p:cNvPr id="224" name="Google Shape;224;g344a2590ea4_0_0"/>
          <p:cNvSpPr txBox="1"/>
          <p:nvPr/>
        </p:nvSpPr>
        <p:spPr>
          <a:xfrm>
            <a:off x="4049331" y="3789172"/>
            <a:ext cx="1124775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2250" noProof="0" dirty="0" err="1"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2250" baseline="-25000" noProof="0" dirty="0" err="1">
                <a:latin typeface="Avenir"/>
                <a:ea typeface="Avenir"/>
                <a:cs typeface="Avenir"/>
                <a:sym typeface="Avenir"/>
              </a:rPr>
              <a:t>train</a:t>
            </a:r>
            <a:endParaRPr lang="en-US" sz="2250" baseline="-25000" noProof="0" dirty="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5" name="Google Shape;225;g344a2590ea4_0_0"/>
          <p:cNvSpPr txBox="1"/>
          <p:nvPr/>
        </p:nvSpPr>
        <p:spPr>
          <a:xfrm>
            <a:off x="4492125" y="1047547"/>
            <a:ext cx="1124775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sz="2250" noProof="0" dirty="0" err="1"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2250" baseline="-25000" noProof="0" dirty="0" err="1">
                <a:latin typeface="Avenir"/>
                <a:ea typeface="Avenir"/>
                <a:cs typeface="Avenir"/>
                <a:sym typeface="Avenir"/>
              </a:rPr>
              <a:t>val</a:t>
            </a:r>
            <a:endParaRPr lang="en-US" sz="2250" baseline="-25000" noProof="0" dirty="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6" name="Google Shape;226;g344a2590ea4_0_0"/>
          <p:cNvSpPr/>
          <p:nvPr/>
        </p:nvSpPr>
        <p:spPr>
          <a:xfrm>
            <a:off x="6246188" y="2413011"/>
            <a:ext cx="2357550" cy="21372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US" sz="1350" noProof="0" dirty="0">
                <a:latin typeface="Avenir"/>
                <a:ea typeface="Avenir"/>
                <a:cs typeface="Avenir"/>
                <a:sym typeface="Avenir"/>
              </a:rPr>
              <a:t>High Bias (Underfitting)</a:t>
            </a:r>
          </a:p>
          <a:p>
            <a:pPr marL="685800" indent="-257175">
              <a:spcBef>
                <a:spcPts val="750"/>
              </a:spcBef>
              <a:buSzPts val="1800"/>
              <a:buFont typeface="Avenir"/>
              <a:buChar char="●"/>
            </a:pPr>
            <a:r>
              <a:rPr lang="en-US" sz="1350" noProof="0" dirty="0" err="1"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1350" baseline="-25000" noProof="0" dirty="0" err="1">
                <a:latin typeface="Avenir"/>
                <a:ea typeface="Avenir"/>
                <a:cs typeface="Avenir"/>
                <a:sym typeface="Avenir"/>
              </a:rPr>
              <a:t>train</a:t>
            </a:r>
            <a:r>
              <a:rPr lang="en-US" sz="1350" noProof="0" dirty="0">
                <a:latin typeface="Avenir"/>
                <a:ea typeface="Avenir"/>
                <a:cs typeface="Avenir"/>
                <a:sym typeface="Avenir"/>
              </a:rPr>
              <a:t> will be high</a:t>
            </a:r>
          </a:p>
          <a:p>
            <a:pPr marL="685800" indent="-257175">
              <a:spcBef>
                <a:spcPts val="750"/>
              </a:spcBef>
              <a:buSzPts val="1800"/>
              <a:buFont typeface="Avenir"/>
              <a:buChar char="●"/>
            </a:pPr>
            <a:r>
              <a:rPr lang="en-US" sz="1350" noProof="0" dirty="0" err="1"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1350" baseline="-25000" noProof="0" dirty="0" err="1">
                <a:latin typeface="Avenir"/>
                <a:ea typeface="Avenir"/>
                <a:cs typeface="Avenir"/>
                <a:sym typeface="Avenir"/>
              </a:rPr>
              <a:t>val</a:t>
            </a:r>
            <a:r>
              <a:rPr lang="en-US" sz="1350" noProof="0" dirty="0">
                <a:latin typeface="Avenir"/>
                <a:ea typeface="Avenir"/>
                <a:cs typeface="Avenir"/>
                <a:sym typeface="Avenir"/>
              </a:rPr>
              <a:t> ~ </a:t>
            </a:r>
            <a:r>
              <a:rPr lang="en-US" sz="1350" noProof="0" dirty="0" err="1"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1350" baseline="-25000" noProof="0" dirty="0" err="1">
                <a:latin typeface="Avenir"/>
                <a:ea typeface="Avenir"/>
                <a:cs typeface="Avenir"/>
                <a:sym typeface="Avenir"/>
              </a:rPr>
              <a:t>train</a:t>
            </a:r>
            <a:endParaRPr lang="en-US" sz="1350" baseline="-25000" noProof="0" dirty="0">
              <a:latin typeface="Avenir"/>
              <a:ea typeface="Avenir"/>
              <a:cs typeface="Avenir"/>
              <a:sym typeface="Avenir"/>
            </a:endParaRPr>
          </a:p>
          <a:p>
            <a:pPr>
              <a:spcBef>
                <a:spcPts val="750"/>
              </a:spcBef>
            </a:pPr>
            <a:r>
              <a:rPr lang="en-US" sz="1350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High Variance (Overfitting)</a:t>
            </a:r>
          </a:p>
          <a:p>
            <a:pPr marL="685800" indent="-257175">
              <a:spcBef>
                <a:spcPts val="750"/>
              </a:spcBef>
              <a:buClr>
                <a:schemeClr val="dk1"/>
              </a:buClr>
              <a:buSzPts val="1800"/>
              <a:buFont typeface="Avenir"/>
              <a:buChar char="●"/>
            </a:pPr>
            <a:r>
              <a:rPr lang="en-US" sz="1350" noProof="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1350" baseline="-25000" noProof="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train</a:t>
            </a:r>
            <a:r>
              <a:rPr lang="en-US" sz="1350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will be low</a:t>
            </a:r>
          </a:p>
          <a:p>
            <a:pPr marL="685800" indent="-257175">
              <a:spcBef>
                <a:spcPts val="750"/>
              </a:spcBef>
              <a:spcAft>
                <a:spcPts val="750"/>
              </a:spcAft>
              <a:buClr>
                <a:schemeClr val="dk1"/>
              </a:buClr>
              <a:buSzPts val="1800"/>
              <a:buFont typeface="Avenir"/>
              <a:buChar char="●"/>
            </a:pPr>
            <a:r>
              <a:rPr lang="en-US" sz="1350" noProof="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1350" baseline="-25000" noProof="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val</a:t>
            </a:r>
            <a:r>
              <a:rPr lang="en-US" sz="1350" noProof="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&gt;&gt; </a:t>
            </a:r>
            <a:r>
              <a:rPr lang="en-US" sz="1350" noProof="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</a:t>
            </a:r>
            <a:r>
              <a:rPr lang="en-US" sz="1350" baseline="-25000" noProof="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train</a:t>
            </a:r>
            <a:endParaRPr lang="en-US" sz="1350" baseline="-25000" noProof="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7" name="Google Shape;227;g344a2590ea4_0_0"/>
          <p:cNvSpPr/>
          <p:nvPr/>
        </p:nvSpPr>
        <p:spPr>
          <a:xfrm>
            <a:off x="1871307" y="2880359"/>
            <a:ext cx="670725" cy="1437525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228" name="Google Shape;228;g344a2590ea4_0_0"/>
          <p:cNvSpPr/>
          <p:nvPr/>
        </p:nvSpPr>
        <p:spPr>
          <a:xfrm>
            <a:off x="700275" y="1339554"/>
            <a:ext cx="444375" cy="789075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229" name="Google Shape;229;g344a2590ea4_0_0"/>
          <p:cNvSpPr/>
          <p:nvPr/>
        </p:nvSpPr>
        <p:spPr>
          <a:xfrm>
            <a:off x="1240388" y="1073904"/>
            <a:ext cx="1550475" cy="4848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noProof="0" dirty="0">
                <a:solidFill>
                  <a:srgbClr val="FF0000"/>
                </a:solidFill>
              </a:rPr>
              <a:t>Underfitting</a:t>
            </a:r>
            <a:br>
              <a:rPr lang="en-US" sz="1350" noProof="0" dirty="0">
                <a:solidFill>
                  <a:srgbClr val="FF0000"/>
                </a:solidFill>
              </a:rPr>
            </a:br>
            <a:r>
              <a:rPr lang="en-US" sz="1350" noProof="0" dirty="0">
                <a:solidFill>
                  <a:srgbClr val="FF0000"/>
                </a:solidFill>
              </a:rPr>
              <a:t>(High Bias)</a:t>
            </a:r>
          </a:p>
        </p:txBody>
      </p:sp>
      <p:sp>
        <p:nvSpPr>
          <p:cNvPr id="230" name="Google Shape;230;g344a2590ea4_0_0"/>
          <p:cNvSpPr/>
          <p:nvPr/>
        </p:nvSpPr>
        <p:spPr>
          <a:xfrm>
            <a:off x="4534266" y="2950198"/>
            <a:ext cx="1550475" cy="4848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noProof="0" dirty="0">
                <a:solidFill>
                  <a:srgbClr val="FF0000"/>
                </a:solidFill>
              </a:rPr>
              <a:t>Overfitting</a:t>
            </a:r>
            <a:br>
              <a:rPr lang="en-US" sz="1350" noProof="0" dirty="0">
                <a:solidFill>
                  <a:srgbClr val="FF0000"/>
                </a:solidFill>
              </a:rPr>
            </a:br>
            <a:r>
              <a:rPr lang="en-US" sz="1350" noProof="0" dirty="0">
                <a:solidFill>
                  <a:srgbClr val="FF0000"/>
                </a:solidFill>
              </a:rPr>
              <a:t>(High Variance)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C33DC04-FA7C-8DE0-9A72-A29904762F0B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 Bias vs. Variance</a:t>
            </a:r>
            <a:endParaRPr lang="en-US" sz="2800" noProof="0" dirty="0"/>
          </a:p>
        </p:txBody>
      </p:sp>
      <p:pic>
        <p:nvPicPr>
          <p:cNvPr id="5" name="Image 0" descr="/home/claude/nsf_leap_logo.png">
            <a:extLst>
              <a:ext uri="{FF2B5EF4-FFF2-40B4-BE49-F238E27FC236}">
                <a16:creationId xmlns:a16="http://schemas.microsoft.com/office/drawing/2014/main" id="{4EED5C52-6FF9-4262-D0BA-21E467C69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FEC4A69E-F0D3-4595-25F1-39456535F2C8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Google Shape;229;g344a2590ea4_0_0">
            <a:extLst>
              <a:ext uri="{FF2B5EF4-FFF2-40B4-BE49-F238E27FC236}">
                <a16:creationId xmlns:a16="http://schemas.microsoft.com/office/drawing/2014/main" id="{11715023-6C32-61B6-6B1E-78757A19D2E5}"/>
              </a:ext>
            </a:extLst>
          </p:cNvPr>
          <p:cNvSpPr/>
          <p:nvPr/>
        </p:nvSpPr>
        <p:spPr>
          <a:xfrm>
            <a:off x="1651368" y="2311789"/>
            <a:ext cx="1110601" cy="4848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350" noProof="0" dirty="0">
                <a:solidFill>
                  <a:srgbClr val="FF0000"/>
                </a:solidFill>
              </a:rPr>
              <a:t>Just right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014A83E-A962-AC3D-7458-216E02A26BB5}"/>
              </a:ext>
            </a:extLst>
          </p:cNvPr>
          <p:cNvSpPr/>
          <p:nvPr/>
        </p:nvSpPr>
        <p:spPr>
          <a:xfrm>
            <a:off x="797859" y="1568824"/>
            <a:ext cx="4258235" cy="2725270"/>
          </a:xfrm>
          <a:custGeom>
            <a:avLst/>
            <a:gdLst>
              <a:gd name="csX0" fmla="*/ 0 w 4258235"/>
              <a:gd name="csY0" fmla="*/ 2725270 h 2725270"/>
              <a:gd name="csX1" fmla="*/ 1568823 w 4258235"/>
              <a:gd name="csY1" fmla="*/ 2420470 h 2725270"/>
              <a:gd name="csX2" fmla="*/ 2761129 w 4258235"/>
              <a:gd name="csY2" fmla="*/ 1900517 h 2725270"/>
              <a:gd name="csX3" fmla="*/ 3881717 w 4258235"/>
              <a:gd name="csY3" fmla="*/ 923364 h 2725270"/>
              <a:gd name="csX4" fmla="*/ 4249270 w 4258235"/>
              <a:gd name="csY4" fmla="*/ 62752 h 2725270"/>
              <a:gd name="csX5" fmla="*/ 4249270 w 4258235"/>
              <a:gd name="csY5" fmla="*/ 62752 h 2725270"/>
              <a:gd name="csX6" fmla="*/ 4258235 w 4258235"/>
              <a:gd name="csY6" fmla="*/ 0 h 2725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58235" h="2725270">
                <a:moveTo>
                  <a:pt x="0" y="2725270"/>
                </a:moveTo>
                <a:cubicBezTo>
                  <a:pt x="554317" y="2641599"/>
                  <a:pt x="1108635" y="2557929"/>
                  <a:pt x="1568823" y="2420470"/>
                </a:cubicBezTo>
                <a:cubicBezTo>
                  <a:pt x="2029011" y="2283011"/>
                  <a:pt x="2375647" y="2150035"/>
                  <a:pt x="2761129" y="1900517"/>
                </a:cubicBezTo>
                <a:cubicBezTo>
                  <a:pt x="3146611" y="1650999"/>
                  <a:pt x="3633694" y="1229658"/>
                  <a:pt x="3881717" y="923364"/>
                </a:cubicBezTo>
                <a:cubicBezTo>
                  <a:pt x="4129741" y="617070"/>
                  <a:pt x="4249270" y="62752"/>
                  <a:pt x="4249270" y="62752"/>
                </a:cubicBezTo>
                <a:lnTo>
                  <a:pt x="4249270" y="62752"/>
                </a:lnTo>
                <a:lnTo>
                  <a:pt x="4258235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049F7123-E054-0069-2891-8092A8A4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78;g344a2590ea4_0_72">
            <a:extLst>
              <a:ext uri="{FF2B5EF4-FFF2-40B4-BE49-F238E27FC236}">
                <a16:creationId xmlns:a16="http://schemas.microsoft.com/office/drawing/2014/main" id="{2A33C605-4DD5-5E0F-4D04-C88B8230AFC8}"/>
              </a:ext>
            </a:extLst>
          </p:cNvPr>
          <p:cNvSpPr/>
          <p:nvPr/>
        </p:nvSpPr>
        <p:spPr>
          <a:xfrm>
            <a:off x="8102282" y="1500253"/>
            <a:ext cx="395400" cy="728700"/>
          </a:xfrm>
          <a:prstGeom prst="mathMultiply">
            <a:avLst>
              <a:gd name="adj1" fmla="val 23520"/>
            </a:avLst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A895093-58D8-8773-1527-B4D07BCB6B75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Regularization: intuition</a:t>
            </a:r>
            <a:endParaRPr lang="en-US" sz="2800" noProof="0" dirty="0"/>
          </a:p>
        </p:txBody>
      </p:sp>
      <p:grpSp>
        <p:nvGrpSpPr>
          <p:cNvPr id="3" name="Google Shape;263;g344a2590ea4_0_72">
            <a:extLst>
              <a:ext uri="{FF2B5EF4-FFF2-40B4-BE49-F238E27FC236}">
                <a16:creationId xmlns:a16="http://schemas.microsoft.com/office/drawing/2014/main" id="{2419B8B0-04C9-AF40-209F-7CA0C96C6F65}"/>
              </a:ext>
            </a:extLst>
          </p:cNvPr>
          <p:cNvGrpSpPr/>
          <p:nvPr/>
        </p:nvGrpSpPr>
        <p:grpSpPr>
          <a:xfrm>
            <a:off x="296496" y="1621875"/>
            <a:ext cx="3242156" cy="2782811"/>
            <a:chOff x="1864881" y="991037"/>
            <a:chExt cx="6607094" cy="4881626"/>
          </a:xfrm>
        </p:grpSpPr>
        <p:cxnSp>
          <p:nvCxnSpPr>
            <p:cNvPr id="4" name="Google Shape;264;g344a2590ea4_0_72">
              <a:extLst>
                <a:ext uri="{FF2B5EF4-FFF2-40B4-BE49-F238E27FC236}">
                  <a16:creationId xmlns:a16="http://schemas.microsoft.com/office/drawing/2014/main" id="{D504FB8F-5454-7A05-C3CC-2213B0B0EACF}"/>
                </a:ext>
              </a:extLst>
            </p:cNvPr>
            <p:cNvCxnSpPr/>
            <p:nvPr/>
          </p:nvCxnSpPr>
          <p:spPr>
            <a:xfrm rot="10800000">
              <a:off x="2634525" y="991038"/>
              <a:ext cx="31800" cy="4477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Google Shape;265;g344a2590ea4_0_72">
              <a:extLst>
                <a:ext uri="{FF2B5EF4-FFF2-40B4-BE49-F238E27FC236}">
                  <a16:creationId xmlns:a16="http://schemas.microsoft.com/office/drawing/2014/main" id="{F8CBA333-E239-45A7-094D-85D3987727C7}"/>
                </a:ext>
              </a:extLst>
            </p:cNvPr>
            <p:cNvCxnSpPr/>
            <p:nvPr/>
          </p:nvCxnSpPr>
          <p:spPr>
            <a:xfrm>
              <a:off x="2445875" y="5269138"/>
              <a:ext cx="6026100" cy="29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" name="Google Shape;266;g344a2590ea4_0_72">
              <a:extLst>
                <a:ext uri="{FF2B5EF4-FFF2-40B4-BE49-F238E27FC236}">
                  <a16:creationId xmlns:a16="http://schemas.microsoft.com/office/drawing/2014/main" id="{6AB52AFE-28DD-9EAF-336F-0AE9899A4E79}"/>
                </a:ext>
              </a:extLst>
            </p:cNvPr>
            <p:cNvSpPr txBox="1"/>
            <p:nvPr/>
          </p:nvSpPr>
          <p:spPr>
            <a:xfrm>
              <a:off x="3810775" y="5410963"/>
              <a:ext cx="3487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800">
                  <a:latin typeface="Avenir"/>
                  <a:ea typeface="Avenir"/>
                  <a:cs typeface="Avenir"/>
                  <a:sym typeface="Avenir"/>
                </a:rPr>
                <a:t>X</a:t>
              </a:r>
              <a:endParaRPr sz="18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" name="Google Shape;267;g344a2590ea4_0_72">
              <a:extLst>
                <a:ext uri="{FF2B5EF4-FFF2-40B4-BE49-F238E27FC236}">
                  <a16:creationId xmlns:a16="http://schemas.microsoft.com/office/drawing/2014/main" id="{328BF3EF-C59D-0668-EB21-AB413CA5D85D}"/>
                </a:ext>
              </a:extLst>
            </p:cNvPr>
            <p:cNvSpPr txBox="1"/>
            <p:nvPr/>
          </p:nvSpPr>
          <p:spPr>
            <a:xfrm rot="16200000">
              <a:off x="351831" y="2504087"/>
              <a:ext cx="3487799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800" dirty="0">
                  <a:latin typeface="Avenir"/>
                  <a:ea typeface="Avenir"/>
                  <a:cs typeface="Avenir"/>
                  <a:sym typeface="Avenir"/>
                </a:rPr>
                <a:t>Y</a:t>
              </a:r>
              <a:endParaRPr sz="1800" dirty="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" name="Google Shape;268;g344a2590ea4_0_72">
              <a:extLst>
                <a:ext uri="{FF2B5EF4-FFF2-40B4-BE49-F238E27FC236}">
                  <a16:creationId xmlns:a16="http://schemas.microsoft.com/office/drawing/2014/main" id="{14BCF7DF-DCD7-284B-CC8B-855A16F239E7}"/>
                </a:ext>
              </a:extLst>
            </p:cNvPr>
            <p:cNvSpPr/>
            <p:nvPr/>
          </p:nvSpPr>
          <p:spPr>
            <a:xfrm>
              <a:off x="2873925" y="2257063"/>
              <a:ext cx="5107375" cy="2724600"/>
            </a:xfrm>
            <a:custGeom>
              <a:avLst/>
              <a:gdLst/>
              <a:ahLst/>
              <a:cxnLst/>
              <a:rect l="l" t="t" r="r" b="b"/>
              <a:pathLst>
                <a:path w="204295" h="108984" extrusionOk="0">
                  <a:moveTo>
                    <a:pt x="0" y="54235"/>
                  </a:moveTo>
                  <a:cubicBezTo>
                    <a:pt x="4489" y="63213"/>
                    <a:pt x="19488" y="116203"/>
                    <a:pt x="26933" y="108101"/>
                  </a:cubicBezTo>
                  <a:cubicBezTo>
                    <a:pt x="34378" y="99999"/>
                    <a:pt x="38319" y="17449"/>
                    <a:pt x="44669" y="5625"/>
                  </a:cubicBezTo>
                  <a:cubicBezTo>
                    <a:pt x="51019" y="-6199"/>
                    <a:pt x="51895" y="38032"/>
                    <a:pt x="65033" y="37156"/>
                  </a:cubicBezTo>
                  <a:cubicBezTo>
                    <a:pt x="78171" y="36280"/>
                    <a:pt x="100286" y="-2586"/>
                    <a:pt x="123496" y="370"/>
                  </a:cubicBezTo>
                  <a:cubicBezTo>
                    <a:pt x="146706" y="3326"/>
                    <a:pt x="190829" y="45805"/>
                    <a:pt x="204295" y="54892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Google Shape;269;g344a2590ea4_0_72">
              <a:extLst>
                <a:ext uri="{FF2B5EF4-FFF2-40B4-BE49-F238E27FC236}">
                  <a16:creationId xmlns:a16="http://schemas.microsoft.com/office/drawing/2014/main" id="{ABBFAFC3-C315-916D-1DD8-FBB302E3B197}"/>
                </a:ext>
              </a:extLst>
            </p:cNvPr>
            <p:cNvSpPr/>
            <p:nvPr/>
          </p:nvSpPr>
          <p:spPr>
            <a:xfrm>
              <a:off x="3135650" y="4478850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3" name="Google Shape;270;g344a2590ea4_0_72">
              <a:extLst>
                <a:ext uri="{FF2B5EF4-FFF2-40B4-BE49-F238E27FC236}">
                  <a16:creationId xmlns:a16="http://schemas.microsoft.com/office/drawing/2014/main" id="{0543ECF6-F9E4-DF4E-E2F1-A70429FD2A29}"/>
                </a:ext>
              </a:extLst>
            </p:cNvPr>
            <p:cNvSpPr/>
            <p:nvPr/>
          </p:nvSpPr>
          <p:spPr>
            <a:xfrm>
              <a:off x="3613675" y="393782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4" name="Google Shape;271;g344a2590ea4_0_72">
              <a:extLst>
                <a:ext uri="{FF2B5EF4-FFF2-40B4-BE49-F238E27FC236}">
                  <a16:creationId xmlns:a16="http://schemas.microsoft.com/office/drawing/2014/main" id="{88587C96-F336-923F-24F1-FEE1A8B0DD19}"/>
                </a:ext>
              </a:extLst>
            </p:cNvPr>
            <p:cNvSpPr/>
            <p:nvPr/>
          </p:nvSpPr>
          <p:spPr>
            <a:xfrm>
              <a:off x="4070875" y="255097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5" name="Google Shape;272;g344a2590ea4_0_72">
              <a:extLst>
                <a:ext uri="{FF2B5EF4-FFF2-40B4-BE49-F238E27FC236}">
                  <a16:creationId xmlns:a16="http://schemas.microsoft.com/office/drawing/2014/main" id="{672CF46B-37CA-B6CC-DA35-F002106D914F}"/>
                </a:ext>
              </a:extLst>
            </p:cNvPr>
            <p:cNvSpPr/>
            <p:nvPr/>
          </p:nvSpPr>
          <p:spPr>
            <a:xfrm>
              <a:off x="5137675" y="250527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6" name="Google Shape;273;g344a2590ea4_0_72">
              <a:extLst>
                <a:ext uri="{FF2B5EF4-FFF2-40B4-BE49-F238E27FC236}">
                  <a16:creationId xmlns:a16="http://schemas.microsoft.com/office/drawing/2014/main" id="{77888F04-12CE-781C-A80A-B66FFD4F0AA0}"/>
                </a:ext>
              </a:extLst>
            </p:cNvPr>
            <p:cNvSpPr/>
            <p:nvPr/>
          </p:nvSpPr>
          <p:spPr>
            <a:xfrm>
              <a:off x="6615950" y="250527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pic>
        <p:nvPicPr>
          <p:cNvPr id="17" name="Google Shape;274;g344a2590ea4_0_72">
            <a:extLst>
              <a:ext uri="{FF2B5EF4-FFF2-40B4-BE49-F238E27FC236}">
                <a16:creationId xmlns:a16="http://schemas.microsoft.com/office/drawing/2014/main" id="{BDCA5E0A-41FF-DCDF-B784-30096471ED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873" y="1091331"/>
            <a:ext cx="4610075" cy="37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75;g344a2590ea4_0_72">
            <a:extLst>
              <a:ext uri="{FF2B5EF4-FFF2-40B4-BE49-F238E27FC236}">
                <a16:creationId xmlns:a16="http://schemas.microsoft.com/office/drawing/2014/main" id="{57D736A0-8245-F163-9A0E-08DD6C7C3BA0}"/>
              </a:ext>
            </a:extLst>
          </p:cNvPr>
          <p:cNvSpPr/>
          <p:nvPr/>
        </p:nvSpPr>
        <p:spPr>
          <a:xfrm>
            <a:off x="920076" y="2485078"/>
            <a:ext cx="2460460" cy="1434580"/>
          </a:xfrm>
          <a:custGeom>
            <a:avLst/>
            <a:gdLst/>
            <a:ahLst/>
            <a:cxnLst/>
            <a:rect l="l" t="t" r="r" b="b"/>
            <a:pathLst>
              <a:path w="200564" h="100662" extrusionOk="0">
                <a:moveTo>
                  <a:pt x="0" y="100662"/>
                </a:moveTo>
                <a:cubicBezTo>
                  <a:pt x="10424" y="84368"/>
                  <a:pt x="29114" y="15117"/>
                  <a:pt x="62541" y="2896"/>
                </a:cubicBezTo>
                <a:cubicBezTo>
                  <a:pt x="95968" y="-9325"/>
                  <a:pt x="177560" y="23264"/>
                  <a:pt x="200564" y="27337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oogle Shape;276;g344a2590ea4_0_72">
            <a:extLst>
              <a:ext uri="{FF2B5EF4-FFF2-40B4-BE49-F238E27FC236}">
                <a16:creationId xmlns:a16="http://schemas.microsoft.com/office/drawing/2014/main" id="{50687C11-56B5-5C23-FA64-85943EBC5D4C}"/>
              </a:ext>
            </a:extLst>
          </p:cNvPr>
          <p:cNvSpPr/>
          <p:nvPr/>
        </p:nvSpPr>
        <p:spPr>
          <a:xfrm>
            <a:off x="6980260" y="1515407"/>
            <a:ext cx="395400" cy="728700"/>
          </a:xfrm>
          <a:prstGeom prst="mathMultiply">
            <a:avLst>
              <a:gd name="adj1" fmla="val 23520"/>
            </a:avLst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77;g344a2590ea4_0_72">
            <a:extLst>
              <a:ext uri="{FF2B5EF4-FFF2-40B4-BE49-F238E27FC236}">
                <a16:creationId xmlns:a16="http://schemas.microsoft.com/office/drawing/2014/main" id="{A60B00B5-8AAC-E20F-F0EC-4BD215D066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872" y="1692195"/>
            <a:ext cx="4610075" cy="37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79;g344a2590ea4_0_72">
            <a:extLst>
              <a:ext uri="{FF2B5EF4-FFF2-40B4-BE49-F238E27FC236}">
                <a16:creationId xmlns:a16="http://schemas.microsoft.com/office/drawing/2014/main" id="{1F2C3A29-AB35-6FF1-89FF-BB79AF79F9B5}"/>
              </a:ext>
            </a:extLst>
          </p:cNvPr>
          <p:cNvSpPr txBox="1"/>
          <p:nvPr/>
        </p:nvSpPr>
        <p:spPr>
          <a:xfrm>
            <a:off x="4009218" y="2462519"/>
            <a:ext cx="5014974" cy="127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44500" lvl="0" indent="-342900" algn="l" rtl="0"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it-IT" dirty="0"/>
              <a:t>By making </a:t>
            </a:r>
            <a:r>
              <a:rPr lang="it-IT" dirty="0" err="1"/>
              <a:t>those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small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simplify</a:t>
            </a:r>
            <a:r>
              <a:rPr lang="it-IT" dirty="0"/>
              <a:t> the </a:t>
            </a:r>
            <a:r>
              <a:rPr lang="it-IT" dirty="0" err="1"/>
              <a:t>hypothesis</a:t>
            </a:r>
            <a:endParaRPr dirty="0"/>
          </a:p>
          <a:p>
            <a:pPr marL="444500" lvl="0" indent="-342900" algn="l" rtl="0">
              <a:spcBef>
                <a:spcPts val="1000"/>
              </a:spcBef>
              <a:spcAft>
                <a:spcPts val="1000"/>
              </a:spcAft>
              <a:buSzPts val="2000"/>
              <a:buFont typeface="Arial" panose="020B0604020202020204" pitchFamily="34" charset="0"/>
              <a:buChar char="•"/>
            </a:pPr>
            <a:r>
              <a:rPr lang="it-IT" dirty="0"/>
              <a:t>Simple </a:t>
            </a:r>
            <a:r>
              <a:rPr lang="it-IT" dirty="0" err="1"/>
              <a:t>hypothesis</a:t>
            </a:r>
            <a:r>
              <a:rPr lang="it-IT" dirty="0"/>
              <a:t> are </a:t>
            </a:r>
            <a:r>
              <a:rPr lang="it-IT" dirty="0" err="1"/>
              <a:t>less</a:t>
            </a:r>
            <a:r>
              <a:rPr lang="it-IT" dirty="0"/>
              <a:t> prone to </a:t>
            </a:r>
            <a:r>
              <a:rPr lang="it-IT" dirty="0" err="1"/>
              <a:t>overfitting</a:t>
            </a:r>
            <a:r>
              <a:rPr lang="it-IT" dirty="0"/>
              <a:t> </a:t>
            </a:r>
            <a:endParaRPr dirty="0"/>
          </a:p>
        </p:txBody>
      </p:sp>
      <p:pic>
        <p:nvPicPr>
          <p:cNvPr id="23" name="Image 0" descr="/home/claude/nsf_leap_logo.png">
            <a:extLst>
              <a:ext uri="{FF2B5EF4-FFF2-40B4-BE49-F238E27FC236}">
                <a16:creationId xmlns:a16="http://schemas.microsoft.com/office/drawing/2014/main" id="{AC6F0A5F-5C9E-3E17-CB81-73292FBC3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24" name="Shape 1">
            <a:extLst>
              <a:ext uri="{FF2B5EF4-FFF2-40B4-BE49-F238E27FC236}">
                <a16:creationId xmlns:a16="http://schemas.microsoft.com/office/drawing/2014/main" id="{CC88A33A-32FF-F24D-E822-02308ED52F6D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5" name="Google Shape;288;g344a2590ea4_0_103">
            <a:extLst>
              <a:ext uri="{FF2B5EF4-FFF2-40B4-BE49-F238E27FC236}">
                <a16:creationId xmlns:a16="http://schemas.microsoft.com/office/drawing/2014/main" id="{C123C193-FB62-B996-A075-00C150C552FD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5069" y="3815582"/>
            <a:ext cx="4141731" cy="67508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077BFB4-9EEE-57B5-93F7-7300F55BFE04}"/>
              </a:ext>
            </a:extLst>
          </p:cNvPr>
          <p:cNvSpPr/>
          <p:nvPr/>
        </p:nvSpPr>
        <p:spPr>
          <a:xfrm>
            <a:off x="7827219" y="3739380"/>
            <a:ext cx="922771" cy="838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5CDECD-B586-DC39-20E2-5F218F37171F}"/>
              </a:ext>
            </a:extLst>
          </p:cNvPr>
          <p:cNvCxnSpPr>
            <a:cxnSpLocks/>
          </p:cNvCxnSpPr>
          <p:nvPr/>
        </p:nvCxnSpPr>
        <p:spPr>
          <a:xfrm flipV="1">
            <a:off x="2393576" y="1317812"/>
            <a:ext cx="1615642" cy="1025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E831DA-39D5-BD98-4487-2244C86ACBC9}"/>
              </a:ext>
            </a:extLst>
          </p:cNvPr>
          <p:cNvCxnSpPr>
            <a:cxnSpLocks/>
          </p:cNvCxnSpPr>
          <p:nvPr/>
        </p:nvCxnSpPr>
        <p:spPr>
          <a:xfrm flipV="1">
            <a:off x="3065929" y="1945341"/>
            <a:ext cx="1048871" cy="779930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3785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E6B06BFD-EEFA-E3AC-E557-6BBECC6A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DB90B90C-AB5F-18D5-FEE0-FE04FA1343B2}"/>
                  </a:ext>
                </a:extLst>
              </p:cNvPr>
              <p:cNvSpPr/>
              <p:nvPr/>
            </p:nvSpPr>
            <p:spPr>
              <a:xfrm>
                <a:off x="457200" y="228600"/>
                <a:ext cx="82296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800" b="1" noProof="0" dirty="0">
                    <a:solidFill>
                      <a:srgbClr val="1E2761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Regularization: </a:t>
                </a:r>
              </a:p>
              <a:p>
                <a:pPr marL="0" indent="0" algn="l">
                  <a:buNone/>
                </a:pPr>
                <a:r>
                  <a:rPr lang="en-US" sz="2800" b="1" dirty="0">
                    <a:solidFill>
                      <a:srgbClr val="1E2761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How to </a:t>
                </a:r>
                <a:r>
                  <a:rPr lang="en-US" sz="2800" b="1" noProof="0" dirty="0">
                    <a:solidFill>
                      <a:srgbClr val="1E2761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choose </a:t>
                </a:r>
                <a14:m>
                  <m:oMath xmlns:m="http://schemas.openxmlformats.org/officeDocument/2006/math">
                    <m:r>
                      <a:rPr lang="en-US" sz="2800" b="1" i="1" noProof="0" dirty="0" smtClean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Georgia" pitchFamily="34" charset="-122"/>
                        <a:cs typeface="Georgia" pitchFamily="34" charset="-120"/>
                      </a:rPr>
                      <m:t>𝝀</m:t>
                    </m:r>
                  </m:oMath>
                </a14:m>
                <a:endParaRPr lang="en-US" sz="2800" noProof="0" dirty="0"/>
              </a:p>
            </p:txBody>
          </p:sp>
        </mc:Choice>
        <mc:Fallback xmlns="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DB90B90C-AB5F-18D5-FEE0-FE04FA134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8600"/>
                <a:ext cx="8229600" cy="594360"/>
              </a:xfrm>
              <a:prstGeom prst="rect">
                <a:avLst/>
              </a:prstGeom>
              <a:blipFill>
                <a:blip r:embed="rId3"/>
                <a:stretch>
                  <a:fillRect l="-2778" t="-40426" b="-5744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E649F0D6-541A-8C36-A8C7-7CA2A66ABCDC}"/>
              </a:ext>
            </a:extLst>
          </p:cNvPr>
          <p:cNvGrpSpPr/>
          <p:nvPr/>
        </p:nvGrpSpPr>
        <p:grpSpPr>
          <a:xfrm>
            <a:off x="6348545" y="1717298"/>
            <a:ext cx="2669814" cy="2586161"/>
            <a:chOff x="581594" y="1621875"/>
            <a:chExt cx="2957057" cy="2782810"/>
          </a:xfrm>
        </p:grpSpPr>
        <p:grpSp>
          <p:nvGrpSpPr>
            <p:cNvPr id="3" name="Google Shape;263;g344a2590ea4_0_72">
              <a:extLst>
                <a:ext uri="{FF2B5EF4-FFF2-40B4-BE49-F238E27FC236}">
                  <a16:creationId xmlns:a16="http://schemas.microsoft.com/office/drawing/2014/main" id="{87D30764-A431-8023-1B55-85A9BB84B4A3}"/>
                </a:ext>
              </a:extLst>
            </p:cNvPr>
            <p:cNvGrpSpPr/>
            <p:nvPr/>
          </p:nvGrpSpPr>
          <p:grpSpPr>
            <a:xfrm>
              <a:off x="581594" y="1621875"/>
              <a:ext cx="2957057" cy="2782810"/>
              <a:chOff x="2445875" y="991038"/>
              <a:chExt cx="6026100" cy="4881625"/>
            </a:xfrm>
          </p:grpSpPr>
          <p:cxnSp>
            <p:nvCxnSpPr>
              <p:cNvPr id="4" name="Google Shape;264;g344a2590ea4_0_72">
                <a:extLst>
                  <a:ext uri="{FF2B5EF4-FFF2-40B4-BE49-F238E27FC236}">
                    <a16:creationId xmlns:a16="http://schemas.microsoft.com/office/drawing/2014/main" id="{77AB2434-7F68-CC09-C3CF-5CD5108DF1BC}"/>
                  </a:ext>
                </a:extLst>
              </p:cNvPr>
              <p:cNvCxnSpPr/>
              <p:nvPr/>
            </p:nvCxnSpPr>
            <p:spPr>
              <a:xfrm rot="10800000">
                <a:off x="2634525" y="991038"/>
                <a:ext cx="31800" cy="4477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" name="Google Shape;265;g344a2590ea4_0_72">
                <a:extLst>
                  <a:ext uri="{FF2B5EF4-FFF2-40B4-BE49-F238E27FC236}">
                    <a16:creationId xmlns:a16="http://schemas.microsoft.com/office/drawing/2014/main" id="{82602938-205F-E849-0052-B12ED7FFE870}"/>
                  </a:ext>
                </a:extLst>
              </p:cNvPr>
              <p:cNvCxnSpPr/>
              <p:nvPr/>
            </p:nvCxnSpPr>
            <p:spPr>
              <a:xfrm>
                <a:off x="2445875" y="5269138"/>
                <a:ext cx="6026100" cy="29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" name="Google Shape;266;g344a2590ea4_0_72">
                <a:extLst>
                  <a:ext uri="{FF2B5EF4-FFF2-40B4-BE49-F238E27FC236}">
                    <a16:creationId xmlns:a16="http://schemas.microsoft.com/office/drawing/2014/main" id="{CB370FFF-3CF0-39AA-CDBA-3F08FD4051CE}"/>
                  </a:ext>
                </a:extLst>
              </p:cNvPr>
              <p:cNvSpPr txBox="1"/>
              <p:nvPr/>
            </p:nvSpPr>
            <p:spPr>
              <a:xfrm>
                <a:off x="3810775" y="5410963"/>
                <a:ext cx="3487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800">
                    <a:latin typeface="Avenir"/>
                    <a:ea typeface="Avenir"/>
                    <a:cs typeface="Avenir"/>
                    <a:sym typeface="Avenir"/>
                  </a:rPr>
                  <a:t>X</a:t>
                </a:r>
                <a:endParaRPr sz="1800"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1" name="Google Shape;268;g344a2590ea4_0_72">
                <a:extLst>
                  <a:ext uri="{FF2B5EF4-FFF2-40B4-BE49-F238E27FC236}">
                    <a16:creationId xmlns:a16="http://schemas.microsoft.com/office/drawing/2014/main" id="{8B84827E-7A84-CB7B-B7E5-68F5D528A7A5}"/>
                  </a:ext>
                </a:extLst>
              </p:cNvPr>
              <p:cNvSpPr/>
              <p:nvPr/>
            </p:nvSpPr>
            <p:spPr>
              <a:xfrm>
                <a:off x="2873925" y="2257063"/>
                <a:ext cx="5107375" cy="2724600"/>
              </a:xfrm>
              <a:custGeom>
                <a:avLst/>
                <a:gdLst/>
                <a:ahLst/>
                <a:cxnLst/>
                <a:rect l="l" t="t" r="r" b="b"/>
                <a:pathLst>
                  <a:path w="204295" h="108984" extrusionOk="0">
                    <a:moveTo>
                      <a:pt x="0" y="54235"/>
                    </a:moveTo>
                    <a:cubicBezTo>
                      <a:pt x="4489" y="63213"/>
                      <a:pt x="19488" y="116203"/>
                      <a:pt x="26933" y="108101"/>
                    </a:cubicBezTo>
                    <a:cubicBezTo>
                      <a:pt x="34378" y="99999"/>
                      <a:pt x="38319" y="17449"/>
                      <a:pt x="44669" y="5625"/>
                    </a:cubicBezTo>
                    <a:cubicBezTo>
                      <a:pt x="51019" y="-6199"/>
                      <a:pt x="51895" y="38032"/>
                      <a:pt x="65033" y="37156"/>
                    </a:cubicBezTo>
                    <a:cubicBezTo>
                      <a:pt x="78171" y="36280"/>
                      <a:pt x="100286" y="-2586"/>
                      <a:pt x="123496" y="370"/>
                    </a:cubicBezTo>
                    <a:cubicBezTo>
                      <a:pt x="146706" y="3326"/>
                      <a:pt x="190829" y="45805"/>
                      <a:pt x="204295" y="54892"/>
                    </a:cubicBezTo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269;g344a2590ea4_0_72">
                <a:extLst>
                  <a:ext uri="{FF2B5EF4-FFF2-40B4-BE49-F238E27FC236}">
                    <a16:creationId xmlns:a16="http://schemas.microsoft.com/office/drawing/2014/main" id="{CCA3AD5C-2954-F1F6-ADAE-69C89ABC8056}"/>
                  </a:ext>
                </a:extLst>
              </p:cNvPr>
              <p:cNvSpPr/>
              <p:nvPr/>
            </p:nvSpPr>
            <p:spPr>
              <a:xfrm>
                <a:off x="3135650" y="4478850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13" name="Google Shape;270;g344a2590ea4_0_72">
                <a:extLst>
                  <a:ext uri="{FF2B5EF4-FFF2-40B4-BE49-F238E27FC236}">
                    <a16:creationId xmlns:a16="http://schemas.microsoft.com/office/drawing/2014/main" id="{54AC29FA-1DCD-F92D-2FF3-2DF11933183E}"/>
                  </a:ext>
                </a:extLst>
              </p:cNvPr>
              <p:cNvSpPr/>
              <p:nvPr/>
            </p:nvSpPr>
            <p:spPr>
              <a:xfrm>
                <a:off x="3613675" y="393782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14" name="Google Shape;271;g344a2590ea4_0_72">
                <a:extLst>
                  <a:ext uri="{FF2B5EF4-FFF2-40B4-BE49-F238E27FC236}">
                    <a16:creationId xmlns:a16="http://schemas.microsoft.com/office/drawing/2014/main" id="{6A7DC9E1-5CBE-900F-CC44-75E4DD7F194A}"/>
                  </a:ext>
                </a:extLst>
              </p:cNvPr>
              <p:cNvSpPr/>
              <p:nvPr/>
            </p:nvSpPr>
            <p:spPr>
              <a:xfrm>
                <a:off x="4070875" y="255097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15" name="Google Shape;272;g344a2590ea4_0_72">
                <a:extLst>
                  <a:ext uri="{FF2B5EF4-FFF2-40B4-BE49-F238E27FC236}">
                    <a16:creationId xmlns:a16="http://schemas.microsoft.com/office/drawing/2014/main" id="{95D3E4AE-1E60-4900-1152-2AAB72329995}"/>
                  </a:ext>
                </a:extLst>
              </p:cNvPr>
              <p:cNvSpPr/>
              <p:nvPr/>
            </p:nvSpPr>
            <p:spPr>
              <a:xfrm>
                <a:off x="5137675" y="250527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16" name="Google Shape;273;g344a2590ea4_0_72">
                <a:extLst>
                  <a:ext uri="{FF2B5EF4-FFF2-40B4-BE49-F238E27FC236}">
                    <a16:creationId xmlns:a16="http://schemas.microsoft.com/office/drawing/2014/main" id="{9E982875-52DC-EFC1-0297-70011D77C56F}"/>
                  </a:ext>
                </a:extLst>
              </p:cNvPr>
              <p:cNvSpPr/>
              <p:nvPr/>
            </p:nvSpPr>
            <p:spPr>
              <a:xfrm>
                <a:off x="6615950" y="250527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</p:grpSp>
        <p:sp>
          <p:nvSpPr>
            <p:cNvPr id="18" name="Google Shape;275;g344a2590ea4_0_72">
              <a:extLst>
                <a:ext uri="{FF2B5EF4-FFF2-40B4-BE49-F238E27FC236}">
                  <a16:creationId xmlns:a16="http://schemas.microsoft.com/office/drawing/2014/main" id="{E72C30FF-B19A-6FF6-5A49-EF9E47F11861}"/>
                </a:ext>
              </a:extLst>
            </p:cNvPr>
            <p:cNvSpPr/>
            <p:nvPr/>
          </p:nvSpPr>
          <p:spPr>
            <a:xfrm>
              <a:off x="920076" y="2485078"/>
              <a:ext cx="2460460" cy="1434580"/>
            </a:xfrm>
            <a:custGeom>
              <a:avLst/>
              <a:gdLst/>
              <a:ahLst/>
              <a:cxnLst/>
              <a:rect l="l" t="t" r="r" b="b"/>
              <a:pathLst>
                <a:path w="200564" h="100662" extrusionOk="0">
                  <a:moveTo>
                    <a:pt x="0" y="100662"/>
                  </a:moveTo>
                  <a:cubicBezTo>
                    <a:pt x="10424" y="84368"/>
                    <a:pt x="29114" y="15117"/>
                    <a:pt x="62541" y="2896"/>
                  </a:cubicBezTo>
                  <a:cubicBezTo>
                    <a:pt x="95968" y="-9325"/>
                    <a:pt x="177560" y="23264"/>
                    <a:pt x="200564" y="27337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3" name="Image 0" descr="/home/claude/nsf_leap_logo.png">
            <a:extLst>
              <a:ext uri="{FF2B5EF4-FFF2-40B4-BE49-F238E27FC236}">
                <a16:creationId xmlns:a16="http://schemas.microsoft.com/office/drawing/2014/main" id="{2438B0E6-1A5E-FF35-60B5-48C1AF47A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24" name="Shape 1">
            <a:extLst>
              <a:ext uri="{FF2B5EF4-FFF2-40B4-BE49-F238E27FC236}">
                <a16:creationId xmlns:a16="http://schemas.microsoft.com/office/drawing/2014/main" id="{306D4A4E-11D7-0EBD-DF2D-0ABAB9F9FC5B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3A88CCB-3C2E-E92B-BD4E-A65A8AC20EA8}"/>
              </a:ext>
            </a:extLst>
          </p:cNvPr>
          <p:cNvGrpSpPr/>
          <p:nvPr/>
        </p:nvGrpSpPr>
        <p:grpSpPr>
          <a:xfrm>
            <a:off x="3073726" y="1768833"/>
            <a:ext cx="3283767" cy="2535677"/>
            <a:chOff x="409515" y="937762"/>
            <a:chExt cx="6935422" cy="4881625"/>
          </a:xfrm>
        </p:grpSpPr>
        <p:grpSp>
          <p:nvGrpSpPr>
            <p:cNvPr id="51" name="Google Shape;313;g344a2590ea4_0_152">
              <a:extLst>
                <a:ext uri="{FF2B5EF4-FFF2-40B4-BE49-F238E27FC236}">
                  <a16:creationId xmlns:a16="http://schemas.microsoft.com/office/drawing/2014/main" id="{47114786-62CD-CB9A-10E7-41EE6F14FCB3}"/>
                </a:ext>
              </a:extLst>
            </p:cNvPr>
            <p:cNvGrpSpPr/>
            <p:nvPr/>
          </p:nvGrpSpPr>
          <p:grpSpPr>
            <a:xfrm>
              <a:off x="409515" y="937762"/>
              <a:ext cx="6651644" cy="4881625"/>
              <a:chOff x="1820331" y="991038"/>
              <a:chExt cx="6651644" cy="4881625"/>
            </a:xfrm>
          </p:grpSpPr>
          <p:cxnSp>
            <p:nvCxnSpPr>
              <p:cNvPr id="53" name="Google Shape;314;g344a2590ea4_0_152">
                <a:extLst>
                  <a:ext uri="{FF2B5EF4-FFF2-40B4-BE49-F238E27FC236}">
                    <a16:creationId xmlns:a16="http://schemas.microsoft.com/office/drawing/2014/main" id="{D794A7A0-EC55-413C-66FD-9DD7DBBB2209}"/>
                  </a:ext>
                </a:extLst>
              </p:cNvPr>
              <p:cNvCxnSpPr/>
              <p:nvPr/>
            </p:nvCxnSpPr>
            <p:spPr>
              <a:xfrm rot="10800000">
                <a:off x="2634525" y="991038"/>
                <a:ext cx="31800" cy="4477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4" name="Google Shape;315;g344a2590ea4_0_152">
                <a:extLst>
                  <a:ext uri="{FF2B5EF4-FFF2-40B4-BE49-F238E27FC236}">
                    <a16:creationId xmlns:a16="http://schemas.microsoft.com/office/drawing/2014/main" id="{21DB3DE8-DF65-8C14-FFF2-8A00CF0B901A}"/>
                  </a:ext>
                </a:extLst>
              </p:cNvPr>
              <p:cNvCxnSpPr/>
              <p:nvPr/>
            </p:nvCxnSpPr>
            <p:spPr>
              <a:xfrm>
                <a:off x="2445875" y="5269138"/>
                <a:ext cx="6026100" cy="29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5" name="Google Shape;316;g344a2590ea4_0_152">
                <a:extLst>
                  <a:ext uri="{FF2B5EF4-FFF2-40B4-BE49-F238E27FC236}">
                    <a16:creationId xmlns:a16="http://schemas.microsoft.com/office/drawing/2014/main" id="{884AB515-CBE1-FAD8-3C6D-0F8C131C0BAA}"/>
                  </a:ext>
                </a:extLst>
              </p:cNvPr>
              <p:cNvSpPr txBox="1"/>
              <p:nvPr/>
            </p:nvSpPr>
            <p:spPr>
              <a:xfrm>
                <a:off x="3810775" y="5410963"/>
                <a:ext cx="3487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800">
                    <a:latin typeface="Avenir"/>
                    <a:ea typeface="Avenir"/>
                    <a:cs typeface="Avenir"/>
                    <a:sym typeface="Avenir"/>
                  </a:rPr>
                  <a:t>X</a:t>
                </a:r>
                <a:endParaRPr sz="1800"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56" name="Google Shape;317;g344a2590ea4_0_152">
                <a:extLst>
                  <a:ext uri="{FF2B5EF4-FFF2-40B4-BE49-F238E27FC236}">
                    <a16:creationId xmlns:a16="http://schemas.microsoft.com/office/drawing/2014/main" id="{2A690FE9-DB16-BEEF-DEC6-43106CF8BF36}"/>
                  </a:ext>
                </a:extLst>
              </p:cNvPr>
              <p:cNvSpPr txBox="1"/>
              <p:nvPr/>
            </p:nvSpPr>
            <p:spPr>
              <a:xfrm rot="16200000">
                <a:off x="563925" y="2247445"/>
                <a:ext cx="3487799" cy="974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57" name="Google Shape;318;g344a2590ea4_0_152">
                <a:extLst>
                  <a:ext uri="{FF2B5EF4-FFF2-40B4-BE49-F238E27FC236}">
                    <a16:creationId xmlns:a16="http://schemas.microsoft.com/office/drawing/2014/main" id="{00330B88-9BC7-F6C4-3083-E6D4463464CA}"/>
                  </a:ext>
                </a:extLst>
              </p:cNvPr>
              <p:cNvSpPr/>
              <p:nvPr/>
            </p:nvSpPr>
            <p:spPr>
              <a:xfrm>
                <a:off x="2873925" y="2257063"/>
                <a:ext cx="5107375" cy="2724600"/>
              </a:xfrm>
              <a:custGeom>
                <a:avLst/>
                <a:gdLst/>
                <a:ahLst/>
                <a:cxnLst/>
                <a:rect l="l" t="t" r="r" b="b"/>
                <a:pathLst>
                  <a:path w="204295" h="108984" extrusionOk="0">
                    <a:moveTo>
                      <a:pt x="0" y="54235"/>
                    </a:moveTo>
                    <a:cubicBezTo>
                      <a:pt x="4489" y="63213"/>
                      <a:pt x="19488" y="116203"/>
                      <a:pt x="26933" y="108101"/>
                    </a:cubicBezTo>
                    <a:cubicBezTo>
                      <a:pt x="34378" y="99999"/>
                      <a:pt x="38319" y="17449"/>
                      <a:pt x="44669" y="5625"/>
                    </a:cubicBezTo>
                    <a:cubicBezTo>
                      <a:pt x="51019" y="-6199"/>
                      <a:pt x="51895" y="38032"/>
                      <a:pt x="65033" y="37156"/>
                    </a:cubicBezTo>
                    <a:cubicBezTo>
                      <a:pt x="78171" y="36280"/>
                      <a:pt x="100286" y="-2586"/>
                      <a:pt x="123496" y="370"/>
                    </a:cubicBezTo>
                    <a:cubicBezTo>
                      <a:pt x="146706" y="3326"/>
                      <a:pt x="190829" y="45805"/>
                      <a:pt x="204295" y="54892"/>
                    </a:cubicBezTo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Google Shape;319;g344a2590ea4_0_152">
                <a:extLst>
                  <a:ext uri="{FF2B5EF4-FFF2-40B4-BE49-F238E27FC236}">
                    <a16:creationId xmlns:a16="http://schemas.microsoft.com/office/drawing/2014/main" id="{91D03475-C0B9-838E-0679-F9F55F0D6425}"/>
                  </a:ext>
                </a:extLst>
              </p:cNvPr>
              <p:cNvSpPr/>
              <p:nvPr/>
            </p:nvSpPr>
            <p:spPr>
              <a:xfrm>
                <a:off x="3135650" y="4478850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59" name="Google Shape;320;g344a2590ea4_0_152">
                <a:extLst>
                  <a:ext uri="{FF2B5EF4-FFF2-40B4-BE49-F238E27FC236}">
                    <a16:creationId xmlns:a16="http://schemas.microsoft.com/office/drawing/2014/main" id="{61FDAE97-6BBB-2676-910E-CBE367BC784E}"/>
                  </a:ext>
                </a:extLst>
              </p:cNvPr>
              <p:cNvSpPr/>
              <p:nvPr/>
            </p:nvSpPr>
            <p:spPr>
              <a:xfrm>
                <a:off x="3613675" y="393782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60" name="Google Shape;321;g344a2590ea4_0_152">
                <a:extLst>
                  <a:ext uri="{FF2B5EF4-FFF2-40B4-BE49-F238E27FC236}">
                    <a16:creationId xmlns:a16="http://schemas.microsoft.com/office/drawing/2014/main" id="{BC116F17-1192-97BA-0FCB-6527A28892BF}"/>
                  </a:ext>
                </a:extLst>
              </p:cNvPr>
              <p:cNvSpPr/>
              <p:nvPr/>
            </p:nvSpPr>
            <p:spPr>
              <a:xfrm>
                <a:off x="4070875" y="255097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61" name="Google Shape;322;g344a2590ea4_0_152">
                <a:extLst>
                  <a:ext uri="{FF2B5EF4-FFF2-40B4-BE49-F238E27FC236}">
                    <a16:creationId xmlns:a16="http://schemas.microsoft.com/office/drawing/2014/main" id="{68C42136-751E-BAC2-0B6F-CE67A35D334E}"/>
                  </a:ext>
                </a:extLst>
              </p:cNvPr>
              <p:cNvSpPr/>
              <p:nvPr/>
            </p:nvSpPr>
            <p:spPr>
              <a:xfrm>
                <a:off x="5137675" y="250527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  <p:sp>
            <p:nvSpPr>
              <p:cNvPr id="62" name="Google Shape;323;g344a2590ea4_0_152">
                <a:extLst>
                  <a:ext uri="{FF2B5EF4-FFF2-40B4-BE49-F238E27FC236}">
                    <a16:creationId xmlns:a16="http://schemas.microsoft.com/office/drawing/2014/main" id="{C5A5285F-CA78-FB2C-2018-C4D28794251A}"/>
                  </a:ext>
                </a:extLst>
              </p:cNvPr>
              <p:cNvSpPr/>
              <p:nvPr/>
            </p:nvSpPr>
            <p:spPr>
              <a:xfrm>
                <a:off x="6615950" y="2505275"/>
                <a:ext cx="197100" cy="218400"/>
              </a:xfrm>
              <a:prstGeom prst="mathMultiply">
                <a:avLst>
                  <a:gd name="adj1" fmla="val 2352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/>
              </a:p>
            </p:txBody>
          </p:sp>
        </p:grpSp>
        <p:cxnSp>
          <p:nvCxnSpPr>
            <p:cNvPr id="52" name="Google Shape;325;g344a2590ea4_0_152">
              <a:extLst>
                <a:ext uri="{FF2B5EF4-FFF2-40B4-BE49-F238E27FC236}">
                  <a16:creationId xmlns:a16="http://schemas.microsoft.com/office/drawing/2014/main" id="{539BA8E5-4853-B5B8-35D3-C727D67465DF}"/>
                </a:ext>
              </a:extLst>
            </p:cNvPr>
            <p:cNvCxnSpPr>
              <a:cxnSpLocks/>
            </p:cNvCxnSpPr>
            <p:nvPr/>
          </p:nvCxnSpPr>
          <p:spPr>
            <a:xfrm>
              <a:off x="629000" y="3450575"/>
              <a:ext cx="6715937" cy="0"/>
            </a:xfrm>
            <a:prstGeom prst="straightConnector1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5" name="Google Shape;295;g344a2590ea4_0_111">
            <a:extLst>
              <a:ext uri="{FF2B5EF4-FFF2-40B4-BE49-F238E27FC236}">
                <a16:creationId xmlns:a16="http://schemas.microsoft.com/office/drawing/2014/main" id="{5930FEEB-7DBE-9D7C-E4C2-EAEFA21C367B}"/>
              </a:ext>
            </a:extLst>
          </p:cNvPr>
          <p:cNvGrpSpPr/>
          <p:nvPr/>
        </p:nvGrpSpPr>
        <p:grpSpPr>
          <a:xfrm>
            <a:off x="14705" y="1803215"/>
            <a:ext cx="3203621" cy="2468634"/>
            <a:chOff x="1893805" y="991038"/>
            <a:chExt cx="6578170" cy="4881625"/>
          </a:xfrm>
        </p:grpSpPr>
        <p:cxnSp>
          <p:nvCxnSpPr>
            <p:cNvPr id="66" name="Google Shape;296;g344a2590ea4_0_111">
              <a:extLst>
                <a:ext uri="{FF2B5EF4-FFF2-40B4-BE49-F238E27FC236}">
                  <a16:creationId xmlns:a16="http://schemas.microsoft.com/office/drawing/2014/main" id="{192D3457-98B4-5D5C-3B37-F02E3CB08254}"/>
                </a:ext>
              </a:extLst>
            </p:cNvPr>
            <p:cNvCxnSpPr/>
            <p:nvPr/>
          </p:nvCxnSpPr>
          <p:spPr>
            <a:xfrm rot="10800000">
              <a:off x="2634525" y="991038"/>
              <a:ext cx="31800" cy="4477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" name="Google Shape;297;g344a2590ea4_0_111">
              <a:extLst>
                <a:ext uri="{FF2B5EF4-FFF2-40B4-BE49-F238E27FC236}">
                  <a16:creationId xmlns:a16="http://schemas.microsoft.com/office/drawing/2014/main" id="{865DF657-3767-8D2E-191E-A1BE9A5FB1EA}"/>
                </a:ext>
              </a:extLst>
            </p:cNvPr>
            <p:cNvCxnSpPr/>
            <p:nvPr/>
          </p:nvCxnSpPr>
          <p:spPr>
            <a:xfrm>
              <a:off x="2445875" y="5269138"/>
              <a:ext cx="6026100" cy="29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" name="Google Shape;298;g344a2590ea4_0_111">
              <a:extLst>
                <a:ext uri="{FF2B5EF4-FFF2-40B4-BE49-F238E27FC236}">
                  <a16:creationId xmlns:a16="http://schemas.microsoft.com/office/drawing/2014/main" id="{7486788D-2EB6-17CE-1355-0F5BF4CEA5DD}"/>
                </a:ext>
              </a:extLst>
            </p:cNvPr>
            <p:cNvSpPr txBox="1"/>
            <p:nvPr/>
          </p:nvSpPr>
          <p:spPr>
            <a:xfrm>
              <a:off x="3810775" y="5410963"/>
              <a:ext cx="3487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800">
                  <a:latin typeface="Avenir"/>
                  <a:ea typeface="Avenir"/>
                  <a:cs typeface="Avenir"/>
                  <a:sym typeface="Avenir"/>
                </a:rPr>
                <a:t>X</a:t>
              </a:r>
              <a:endParaRPr sz="18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" name="Google Shape;299;g344a2590ea4_0_111">
              <a:extLst>
                <a:ext uri="{FF2B5EF4-FFF2-40B4-BE49-F238E27FC236}">
                  <a16:creationId xmlns:a16="http://schemas.microsoft.com/office/drawing/2014/main" id="{3B42FE4B-4B79-2627-8346-B671FE6D8E0B}"/>
                </a:ext>
              </a:extLst>
            </p:cNvPr>
            <p:cNvSpPr txBox="1"/>
            <p:nvPr/>
          </p:nvSpPr>
          <p:spPr>
            <a:xfrm rot="16200000">
              <a:off x="380755" y="2504088"/>
              <a:ext cx="3487800" cy="461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800" dirty="0">
                  <a:latin typeface="Avenir"/>
                  <a:ea typeface="Avenir"/>
                  <a:cs typeface="Avenir"/>
                  <a:sym typeface="Avenir"/>
                </a:rPr>
                <a:t>Y</a:t>
              </a:r>
              <a:endParaRPr sz="1800" dirty="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" name="Google Shape;300;g344a2590ea4_0_111">
              <a:extLst>
                <a:ext uri="{FF2B5EF4-FFF2-40B4-BE49-F238E27FC236}">
                  <a16:creationId xmlns:a16="http://schemas.microsoft.com/office/drawing/2014/main" id="{45AAE76B-3A88-7586-4981-C094B1099CBC}"/>
                </a:ext>
              </a:extLst>
            </p:cNvPr>
            <p:cNvSpPr/>
            <p:nvPr/>
          </p:nvSpPr>
          <p:spPr>
            <a:xfrm>
              <a:off x="2873925" y="2257063"/>
              <a:ext cx="5107375" cy="2724600"/>
            </a:xfrm>
            <a:custGeom>
              <a:avLst/>
              <a:gdLst/>
              <a:ahLst/>
              <a:cxnLst/>
              <a:rect l="l" t="t" r="r" b="b"/>
              <a:pathLst>
                <a:path w="204295" h="108984" extrusionOk="0">
                  <a:moveTo>
                    <a:pt x="0" y="54235"/>
                  </a:moveTo>
                  <a:cubicBezTo>
                    <a:pt x="4489" y="63213"/>
                    <a:pt x="19488" y="116203"/>
                    <a:pt x="26933" y="108101"/>
                  </a:cubicBezTo>
                  <a:cubicBezTo>
                    <a:pt x="34378" y="99999"/>
                    <a:pt x="38319" y="17449"/>
                    <a:pt x="44669" y="5625"/>
                  </a:cubicBezTo>
                  <a:cubicBezTo>
                    <a:pt x="51019" y="-6199"/>
                    <a:pt x="51895" y="38032"/>
                    <a:pt x="65033" y="37156"/>
                  </a:cubicBezTo>
                  <a:cubicBezTo>
                    <a:pt x="78171" y="36280"/>
                    <a:pt x="100286" y="-2586"/>
                    <a:pt x="123496" y="370"/>
                  </a:cubicBezTo>
                  <a:cubicBezTo>
                    <a:pt x="146706" y="3326"/>
                    <a:pt x="190829" y="45805"/>
                    <a:pt x="204295" y="54892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Google Shape;301;g344a2590ea4_0_111">
              <a:extLst>
                <a:ext uri="{FF2B5EF4-FFF2-40B4-BE49-F238E27FC236}">
                  <a16:creationId xmlns:a16="http://schemas.microsoft.com/office/drawing/2014/main" id="{3E5DC2ED-D090-2A9D-2343-D974DBE5E542}"/>
                </a:ext>
              </a:extLst>
            </p:cNvPr>
            <p:cNvSpPr/>
            <p:nvPr/>
          </p:nvSpPr>
          <p:spPr>
            <a:xfrm>
              <a:off x="3135650" y="4478850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72" name="Google Shape;302;g344a2590ea4_0_111">
              <a:extLst>
                <a:ext uri="{FF2B5EF4-FFF2-40B4-BE49-F238E27FC236}">
                  <a16:creationId xmlns:a16="http://schemas.microsoft.com/office/drawing/2014/main" id="{DBAA9535-1513-BE68-6281-308552780E8C}"/>
                </a:ext>
              </a:extLst>
            </p:cNvPr>
            <p:cNvSpPr/>
            <p:nvPr/>
          </p:nvSpPr>
          <p:spPr>
            <a:xfrm>
              <a:off x="3613675" y="393782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73" name="Google Shape;303;g344a2590ea4_0_111">
              <a:extLst>
                <a:ext uri="{FF2B5EF4-FFF2-40B4-BE49-F238E27FC236}">
                  <a16:creationId xmlns:a16="http://schemas.microsoft.com/office/drawing/2014/main" id="{EF7ECF36-812F-B10A-BAB0-931821710BAB}"/>
                </a:ext>
              </a:extLst>
            </p:cNvPr>
            <p:cNvSpPr/>
            <p:nvPr/>
          </p:nvSpPr>
          <p:spPr>
            <a:xfrm>
              <a:off x="4070875" y="255097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74" name="Google Shape;304;g344a2590ea4_0_111">
              <a:extLst>
                <a:ext uri="{FF2B5EF4-FFF2-40B4-BE49-F238E27FC236}">
                  <a16:creationId xmlns:a16="http://schemas.microsoft.com/office/drawing/2014/main" id="{D9E59F54-A5BE-11E9-1787-C62B544A86AC}"/>
                </a:ext>
              </a:extLst>
            </p:cNvPr>
            <p:cNvSpPr/>
            <p:nvPr/>
          </p:nvSpPr>
          <p:spPr>
            <a:xfrm>
              <a:off x="5137675" y="250527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75" name="Google Shape;305;g344a2590ea4_0_111">
              <a:extLst>
                <a:ext uri="{FF2B5EF4-FFF2-40B4-BE49-F238E27FC236}">
                  <a16:creationId xmlns:a16="http://schemas.microsoft.com/office/drawing/2014/main" id="{ED11337D-7E71-28E0-5E28-4BB53F119CFD}"/>
                </a:ext>
              </a:extLst>
            </p:cNvPr>
            <p:cNvSpPr/>
            <p:nvPr/>
          </p:nvSpPr>
          <p:spPr>
            <a:xfrm>
              <a:off x="6615950" y="2505275"/>
              <a:ext cx="197100" cy="218400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AC9434-85A0-EFFA-0119-8AD785CFF0E6}"/>
                  </a:ext>
                </a:extLst>
              </p:cNvPr>
              <p:cNvSpPr txBox="1"/>
              <p:nvPr/>
            </p:nvSpPr>
            <p:spPr>
              <a:xfrm>
                <a:off x="1399071" y="1399501"/>
                <a:ext cx="7970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Georgia" pitchFamily="34" charset="-122"/>
                          <a:cs typeface="Georgia" pitchFamily="34" charset="-120"/>
                        </a:rPr>
                        <m:t>𝝀</m:t>
                      </m:r>
                      <m:r>
                        <a:rPr lang="en-US" b="1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Georgia" pitchFamily="34" charset="-122"/>
                          <a:cs typeface="Georgia" pitchFamily="34" charset="-12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AC9434-85A0-EFFA-0119-8AD785CF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071" y="1399501"/>
                <a:ext cx="7970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F7BC2AB-FB3D-7D93-E6A4-DB40CB17DEB7}"/>
                  </a:ext>
                </a:extLst>
              </p:cNvPr>
              <p:cNvSpPr txBox="1"/>
              <p:nvPr/>
            </p:nvSpPr>
            <p:spPr>
              <a:xfrm>
                <a:off x="4443347" y="1400134"/>
                <a:ext cx="9701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Georgia" pitchFamily="34" charset="-122"/>
                          <a:cs typeface="Georgia" pitchFamily="34" charset="-120"/>
                        </a:rPr>
                        <m:t>𝝀</m:t>
                      </m:r>
                      <m:r>
                        <a:rPr lang="en-US" b="1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Georgia" pitchFamily="34" charset="-122"/>
                          <a:cs typeface="Georgia" pitchFamily="34" charset="-120"/>
                        </a:rPr>
                        <m:t>&gt;&gt;0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F7BC2AB-FB3D-7D93-E6A4-DB40CB17D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347" y="1400134"/>
                <a:ext cx="9701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ACF7B32-777B-B357-B8A1-A0F1A0AB78D8}"/>
                  </a:ext>
                </a:extLst>
              </p:cNvPr>
              <p:cNvSpPr txBox="1"/>
              <p:nvPr/>
            </p:nvSpPr>
            <p:spPr>
              <a:xfrm>
                <a:off x="7279806" y="1399501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Georgia" pitchFamily="34" charset="-122"/>
                        <a:cs typeface="Georgia" pitchFamily="34" charset="-120"/>
                      </a:rPr>
                      <m:t>𝝀</m:t>
                    </m:r>
                  </m:oMath>
                </a14:m>
                <a:r>
                  <a:rPr lang="en-US" dirty="0"/>
                  <a:t> just right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ACF7B32-777B-B357-B8A1-A0F1A0AB7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806" y="1399501"/>
                <a:ext cx="1199496" cy="369332"/>
              </a:xfrm>
              <a:prstGeom prst="rect">
                <a:avLst/>
              </a:prstGeom>
              <a:blipFill>
                <a:blip r:embed="rId7"/>
                <a:stretch>
                  <a:fillRect t="-6667" r="-315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Google Shape;288;g344a2590ea4_0_103">
            <a:extLst>
              <a:ext uri="{FF2B5EF4-FFF2-40B4-BE49-F238E27FC236}">
                <a16:creationId xmlns:a16="http://schemas.microsoft.com/office/drawing/2014/main" id="{B48CCECB-E77D-9342-D74E-F1FC2A0DE0A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3347" y="263025"/>
            <a:ext cx="4141731" cy="67508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7074814A-BEE8-5A64-3B18-E67B616CCF71}"/>
              </a:ext>
            </a:extLst>
          </p:cNvPr>
          <p:cNvSpPr/>
          <p:nvPr/>
        </p:nvSpPr>
        <p:spPr>
          <a:xfrm>
            <a:off x="7725497" y="186823"/>
            <a:ext cx="922771" cy="838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88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Neural Networks</a:t>
            </a:r>
            <a:endParaRPr lang="en-US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activation functions, cost functions, and backpropagation</a:t>
            </a:r>
            <a:endParaRPr lang="en-US" sz="1800" noProof="0" dirty="0"/>
          </a:p>
        </p:txBody>
      </p:sp>
      <p:pic>
        <p:nvPicPr>
          <p:cNvPr id="4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Inspiration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function occurs through the firing of neurons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connect through synapses that propagate electrical impulses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billion neurons and ~100 trillion synapses in the human brain</a:t>
            </a:r>
            <a:endParaRPr lang="en-US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Neural Networks (ANNs)</a:t>
            </a:r>
            <a:endParaRPr lang="en-US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inspired by (but much simpler than) the brain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wave in the 1980s-90s, then a resurgence with deep learning (2012+)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state-of-the-art for many tasks in computer vision, NLP, and science</a:t>
            </a:r>
            <a:endParaRPr lang="en-US" sz="14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17057-D56B-23D1-984B-1510F36C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88AFEF-A249-C856-0B02-47A8005BB33D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Perceptron: Simplest Neural Unit</a:t>
            </a:r>
            <a:endParaRPr lang="en-US" sz="2800" noProof="0" dirty="0"/>
          </a:p>
        </p:txBody>
      </p:sp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C59AF7BD-2FC6-F1D7-259E-0CF78F9A2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B859089C-4484-3D8B-5B10-EFEE97FB2B13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AC70A5B-9F44-99E1-DC18-EDC35527F8BC}"/>
              </a:ext>
            </a:extLst>
          </p:cNvPr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neuron that takes weighted inputs, sums them, and applies an activation function.</a:t>
            </a:r>
            <a:endParaRPr lang="en-US" sz="15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33D621D6-0134-116A-7408-42DB5D3F17DD}"/>
                  </a:ext>
                </a:extLst>
              </p:cNvPr>
              <p:cNvSpPr/>
              <p:nvPr/>
            </p:nvSpPr>
            <p:spPr>
              <a:xfrm>
                <a:off x="914400" y="1436842"/>
                <a:ext cx="73152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000" b="1" noProof="0" dirty="0">
                    <a:solidFill>
                      <a:srgbClr val="1E2761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output = g</a:t>
                </a:r>
                <a14:m>
                  <m:oMath xmlns:m="http://schemas.openxmlformats.org/officeDocument/2006/math">
                    <m:r>
                      <a:rPr lang="en-US" sz="2000" b="1" i="1" noProof="0" dirty="0" smtClean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(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𝒘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₁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𝒙</m:t>
                    </m:r>
                    <m:r>
                      <a:rPr lang="en-US" sz="2000" b="1" i="1" noProof="0" dirty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₁ + 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𝒘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₂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𝒙</m:t>
                    </m:r>
                    <m:r>
                      <a:rPr lang="en-US" sz="2000" b="1" i="1" noProof="0" dirty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₂ + … + 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𝒘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ₙ</m:t>
                    </m:r>
                    <m:r>
                      <a:rPr lang="en-US" sz="2000" b="1" i="1" noProof="0" dirty="0" err="1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𝒙</m:t>
                    </m:r>
                    <m:r>
                      <a:rPr lang="en-US" sz="2000" b="1" i="1" noProof="0" dirty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ₙ + 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𝒘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𝟎</m:t>
                        </m:r>
                      </m:sub>
                    </m:sSub>
                    <m:r>
                      <a:rPr lang="en-US" sz="2000" b="1" i="1" noProof="0" dirty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)</m:t>
                    </m:r>
                  </m:oMath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33D621D6-0134-116A-7408-42DB5D3F1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36842"/>
                <a:ext cx="7315200" cy="411480"/>
              </a:xfrm>
              <a:prstGeom prst="rect">
                <a:avLst/>
              </a:prstGeom>
              <a:blipFill>
                <a:blip r:embed="rId4"/>
                <a:stretch>
                  <a:fillRect t="-9091" b="-2424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D01F8CD8-C008-ECE7-EE4D-C62DC056B2FB}"/>
                  </a:ext>
                </a:extLst>
              </p:cNvPr>
              <p:cNvSpPr/>
              <p:nvPr/>
            </p:nvSpPr>
            <p:spPr>
              <a:xfrm>
                <a:off x="640080" y="1734460"/>
                <a:ext cx="7772400" cy="309814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b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Inputs (x₁...xₙ):</a:t>
                </a:r>
                <a:endParaRPr lang="en-US" sz="1600" noProof="0" dirty="0"/>
              </a:p>
              <a:p>
                <a:pPr marL="685800" lvl="1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Feature values fed into the neuron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b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Weights (w₁...wₙ):</a:t>
                </a:r>
                <a:endParaRPr lang="en-US" sz="1600" noProof="0" dirty="0"/>
              </a:p>
              <a:p>
                <a:pPr marL="685800" lvl="1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Learned parameters that scale each input's importance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b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Bias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𝒘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600" b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):</a:t>
                </a:r>
                <a:endParaRPr lang="en-US" sz="1600" noProof="0" dirty="0"/>
              </a:p>
              <a:p>
                <a:pPr marL="685800" lvl="1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 offset term (like the intercept in linear regression)</a:t>
                </a:r>
                <a:endParaRPr lang="en-US" sz="1600" noProof="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b="1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Activation function g():</a:t>
                </a:r>
                <a:endParaRPr lang="en-US" sz="1600" noProof="0" dirty="0"/>
              </a:p>
              <a:p>
                <a:pPr marL="685800" lvl="1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noProof="0" dirty="0">
                    <a:solidFill>
                      <a:srgbClr val="3333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Non-linear transformation applied to the weighted sum</a:t>
                </a:r>
                <a:endParaRPr lang="en-US" sz="1600" noProof="0" dirty="0"/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D01F8CD8-C008-ECE7-EE4D-C62DC056B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34460"/>
                <a:ext cx="7772400" cy="3098143"/>
              </a:xfrm>
              <a:prstGeom prst="rect">
                <a:avLst/>
              </a:prstGeom>
              <a:blipFill>
                <a:blip r:embed="rId5"/>
                <a:stretch>
                  <a:fillRect l="-48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5">
            <a:extLst>
              <a:ext uri="{FF2B5EF4-FFF2-40B4-BE49-F238E27FC236}">
                <a16:creationId xmlns:a16="http://schemas.microsoft.com/office/drawing/2014/main" id="{8140017F-8EE4-F280-3ADD-609F5D797F4A}"/>
              </a:ext>
            </a:extLst>
          </p:cNvPr>
          <p:cNvSpPr/>
          <p:nvPr/>
        </p:nvSpPr>
        <p:spPr>
          <a:xfrm>
            <a:off x="2090057" y="45491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Rosenblatt, F. (1958). The perceptron: a probabilistic model for information storage and organization in the brain.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2723282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DE670D2-46AD-0EA1-0104-6C34775CE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436"/>
            <a:ext cx="7467600" cy="419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6344FE04-DBFC-3674-C972-0A4D8B9F4525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F65E5-CD4A-433C-3AA9-BE4E20FA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9CF91264-C097-1F56-65D6-18F7CFDAF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DF495624-6F92-235A-9369-AA38622DA296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5BA17B-1F9F-BBF0-5877-5333CD508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457200"/>
            <a:ext cx="7505700" cy="41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8C3D02E0-BD7B-E866-6041-BB2BF3B101F2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9872241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1C364-BCD9-A583-5763-B3A350AE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DB9B3217-D8C1-3CCE-0CC9-2A6F85F33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4A75767-6C6A-0206-4996-7C8661CA1C7F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03489ACF-5F02-2A53-F02A-FF37FDCF7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29196"/>
            <a:ext cx="685800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12D38447-77CD-D678-50D4-CDFD4D8B3FBA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768103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1B22D-A27B-F739-BB78-8790A8D2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6821FD5F-12CE-8915-3F8B-E45C7579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BF7C22FE-1CBB-E392-DD4C-B62A0FF97FEC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104633D-A889-941D-33C0-8DBCB5F1E6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69"/>
          <a:stretch>
            <a:fillRect/>
          </a:stretch>
        </p:blipFill>
        <p:spPr bwMode="auto">
          <a:xfrm>
            <a:off x="377371" y="225109"/>
            <a:ext cx="8492309" cy="38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CCD6B6AE-8C74-36E3-EDD7-810452F44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89"/>
          <a:stretch>
            <a:fillRect/>
          </a:stretch>
        </p:blipFill>
        <p:spPr bwMode="auto">
          <a:xfrm>
            <a:off x="1156425" y="4256360"/>
            <a:ext cx="6934200" cy="20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D376E87-2A95-A0D8-9486-012CBDFA0AB8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641069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E7D29-FB6C-6ED9-C66A-B044572A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E251057D-4D9F-1CAC-B884-4E5B9B297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1758A75C-AA0F-E867-4C4E-50FB91AF4450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0EB51A2-878E-912C-C28D-AC870C312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3" y="506413"/>
            <a:ext cx="7280275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35752E84-8EB5-F1B4-5895-A67660E37C22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566669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09D8E-887D-4121-D24C-CB83F0A3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E16691B3-644B-6D0A-07BB-1DEB373E0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2678792C-1100-A974-5BE2-5E8BFADD3DD4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B4C5B4D-5910-E0CB-76A5-AF01915175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88"/>
          <a:stretch>
            <a:fillRect/>
          </a:stretch>
        </p:blipFill>
        <p:spPr bwMode="auto">
          <a:xfrm>
            <a:off x="400594" y="1020760"/>
            <a:ext cx="4953000" cy="3101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B859932-19BB-C739-2F8C-CC4F973B5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81"/>
          <a:stretch>
            <a:fillRect/>
          </a:stretch>
        </p:blipFill>
        <p:spPr bwMode="auto">
          <a:xfrm>
            <a:off x="4922871" y="1558594"/>
            <a:ext cx="3946458" cy="239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FC5CFC0-4FB5-D947-1A4E-1874BFC00E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275"/>
          <a:stretch>
            <a:fillRect/>
          </a:stretch>
        </p:blipFill>
        <p:spPr bwMode="auto">
          <a:xfrm>
            <a:off x="2247900" y="201003"/>
            <a:ext cx="4648200" cy="65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515F6BB4-0312-97B7-1846-C7B71039B139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4971070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B0E48-52C1-E6D1-856A-C4C879CA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7250CAD8-29E6-CB51-2371-BDCCB098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6C981A2B-FEEC-0271-7258-C2C412D7421F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B1955624-75EB-F5B1-BC52-50B62E683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011" y="70629"/>
            <a:ext cx="5365977" cy="440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651C9B6F-1F00-FB3B-6E02-95541D95E722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23533481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DF63B-B836-9CC1-F2B5-C2490053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7C26FBBB-950B-00AC-AD1D-53EAD30F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3BABAD78-9BCF-9D5A-99EC-0A7FAED49A47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3D4C0B0F-DC04-8D48-EE77-E1AB744E0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188" y="503238"/>
            <a:ext cx="662622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7B178195-B4FB-A73F-68F5-66B8332F4840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23249245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50861-0017-707D-DA21-3B10B0EC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D042BDA7-DA21-3D57-32E7-8B28771F2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1F0BA2C9-E762-9449-D12F-61534D6BF523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EEFCD3-73D7-E44B-86AD-3416ACD58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1" t="31975" r="11398" b="-1"/>
          <a:stretch>
            <a:fillRect/>
          </a:stretch>
        </p:blipFill>
        <p:spPr bwMode="auto">
          <a:xfrm>
            <a:off x="5972628" y="1184621"/>
            <a:ext cx="2714172" cy="277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985B295E-1DA6-964E-24BB-85CC4A8E1ADB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4D689EDD-444A-C8B9-40A8-6319E1C00886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Role of Non-Linearity</a:t>
            </a:r>
            <a:endParaRPr lang="en-US" sz="2800" noProof="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0667DC2-67F8-151F-0F83-9D79F228C657}"/>
              </a:ext>
            </a:extLst>
          </p:cNvPr>
          <p:cNvSpPr/>
          <p:nvPr/>
        </p:nvSpPr>
        <p:spPr>
          <a:xfrm>
            <a:off x="457200" y="848106"/>
            <a:ext cx="5341257" cy="3863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activation functions: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layers collapse into a single linear transformation: f(g(x)) = Ax + b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many layers, the network can only learn linear decision boundaries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activation functions: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can learn increasingly complex non-linear features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Approximation Theorem: a single hidden layer with enough neurons can approximate any continuous function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networks learn hierarchical representations more efficiently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35198549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Functions for Neural Networks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3657600" cy="87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for continuous outputs.</a:t>
            </a:r>
            <a:endParaRPr lang="en-US" sz="1200" noProof="0" dirty="0"/>
          </a:p>
          <a:p>
            <a:pPr marL="0" indent="0">
              <a:buNone/>
            </a:pPr>
            <a:r>
              <a:rPr lang="en-US" sz="12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quadratically.</a:t>
            </a:r>
            <a:endParaRPr lang="en-US" sz="1200" noProof="0" dirty="0"/>
          </a:p>
          <a:p>
            <a:pPr marL="0" indent="0">
              <a:buNone/>
            </a:pPr>
            <a:endParaRPr lang="en-US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1408579"/>
          </a:xfrm>
          <a:prstGeom prst="rect">
            <a:avLst/>
          </a:prstGeom>
          <a:solidFill>
            <a:srgbClr val="E8F5F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4892040" y="1417320"/>
            <a:ext cx="3657600" cy="763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for probability outputs.</a:t>
            </a:r>
            <a:endParaRPr lang="en-US" sz="1200" noProof="0" dirty="0"/>
          </a:p>
          <a:p>
            <a:pPr marL="0" indent="0">
              <a:buNone/>
            </a:pPr>
            <a:r>
              <a:rPr lang="en-US" sz="12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CE for 2 classes, Categorical CE for multi-class.</a:t>
            </a:r>
            <a:endParaRPr lang="en-US" sz="1200" noProof="0" dirty="0"/>
          </a:p>
          <a:p>
            <a:pPr marL="0" indent="0">
              <a:buNone/>
            </a:pPr>
            <a:r>
              <a:rPr lang="en-US" sz="12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sigmoid (binary) or </a:t>
            </a:r>
            <a:r>
              <a:rPr lang="en-US" sz="12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r>
              <a:rPr lang="en-US" sz="12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(multi-class).</a:t>
            </a:r>
            <a:endParaRPr lang="en-US" sz="1200" noProof="0" dirty="0"/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569FB9E4-9096-63B3-5BA4-27D265CF3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70"/>
          <a:stretch>
            <a:fillRect/>
          </a:stretch>
        </p:blipFill>
        <p:spPr bwMode="auto">
          <a:xfrm>
            <a:off x="4634049" y="2181247"/>
            <a:ext cx="4173582" cy="2314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5B4F520B-4FFB-1A95-6142-6D77A74F14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14"/>
          <a:stretch>
            <a:fillRect/>
          </a:stretch>
        </p:blipFill>
        <p:spPr bwMode="auto">
          <a:xfrm>
            <a:off x="302130" y="2181247"/>
            <a:ext cx="4242060" cy="221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BAD4861B-E533-90E8-C07E-5132FC212A17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C64F4-4002-CCA7-705F-846568E39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DD807C-F7EA-D3A9-EF4B-49F188DC12C5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ANNs Learn: Forward Pass</a:t>
            </a:r>
            <a:endParaRPr lang="en-US" sz="2800" noProof="0" dirty="0"/>
          </a:p>
        </p:txBody>
      </p:sp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0F90B212-FCB9-D817-0654-5823E0E22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274C1E70-E8C2-838D-EBB6-6A5211AB7428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902E714-BBDE-D82B-8ABD-F05B46DE12F7}"/>
              </a:ext>
            </a:extLst>
          </p:cNvPr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forward through the network to produce a prediction.</a:t>
            </a:r>
            <a:endParaRPr lang="en-US" sz="160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8E28C8F-888B-F102-EE56-78F7E1BAC0FC}"/>
              </a:ext>
            </a:extLst>
          </p:cNvPr>
          <p:cNvSpPr/>
          <p:nvPr/>
        </p:nvSpPr>
        <p:spPr>
          <a:xfrm>
            <a:off x="640080" y="14630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Input features are fed to the input layer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For each hidden layer: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z = </a:t>
            </a:r>
            <a:r>
              <a:rPr lang="en-US" sz="16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</a:t>
            </a: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  (weighted sum)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activation: g(z)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Output layer produces final prediction </a:t>
            </a:r>
            <a:r>
              <a:rPr lang="en-US" sz="16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Compute loss: L = J(y, </a:t>
            </a:r>
            <a:r>
              <a:rPr lang="en-US" sz="16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prediction to true label and quantify the error</a:t>
            </a:r>
            <a:endParaRPr lang="en-US" sz="16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96C96B-3C9E-E362-0573-A68FC2C03D24}"/>
              </a:ext>
            </a:extLst>
          </p:cNvPr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how do we use this error to update the weights?</a:t>
            </a:r>
            <a:endParaRPr lang="en-US" sz="1600" noProof="0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184B05F-6E4E-1A2C-D3A6-D3D2846195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" t="25245" r="10907" b="10484"/>
          <a:stretch>
            <a:fillRect/>
          </a:stretch>
        </p:blipFill>
        <p:spPr bwMode="auto">
          <a:xfrm>
            <a:off x="5669279" y="1371600"/>
            <a:ext cx="3200401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6969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32D7A-DDB9-6B3E-48DA-4D17DEE4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547B1057-CB6A-7F76-3FEE-0CC59D0B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6DE4AAAA-07CE-DD18-0A1F-92C4E27C7A15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15765FF-73FC-059A-4BBD-75A7E8240B86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BA5FEC-04A7-580B-1C32-E6644351E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3125"/>
            <a:ext cx="91440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D34ADF0-4CB3-325C-C5E2-BB20A848D655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NNs Learn: Compute gradients</a:t>
            </a:r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26460250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98ED5-8CDB-B56D-4B4C-3D1EC6C7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0F131565-2503-A4B2-D9AF-9B4ECE154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98E8B096-7995-B08B-C46F-24B44792BD7E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7D159E4-8B6B-D77E-B065-A598A9412BAA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33480E0-0E98-47BA-2137-F845714691CB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NNs Learn: Compute gradients</a:t>
            </a:r>
            <a:endParaRPr lang="en-US" sz="2800" noProof="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B05079-C314-34C2-9FB7-05645B6C1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36650"/>
            <a:ext cx="83820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37841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3EEA6-CD4B-BA0D-4A33-6EB2BEC5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AB8EE0BB-EAC3-A18B-C1D9-46CFE7735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A8DBC96C-A1D8-62C5-A805-2E959030E76F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AF6AAB4-3A46-BE0D-72CA-CB18F8B161E7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9579293-0809-4599-771F-56AAF641F5AE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NNs Learn: Backprop</a:t>
            </a:r>
            <a:r>
              <a:rPr lang="en-US" sz="28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agation</a:t>
            </a: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algorithm</a:t>
            </a:r>
            <a:endParaRPr lang="en-US" sz="2800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7787F5-1402-D7A8-E9E3-AF87B235F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2050"/>
            <a:ext cx="91440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5883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C658C-9A33-DB9F-BE75-7918AB27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5D4A09ED-CFBC-9469-5813-93B59983C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EEAF2503-ACEC-0FD9-3482-4494A1A73C4D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D5A2CF7-B30E-34BD-FB5A-2FF7B8F21A0A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F1A60E78-1B3A-28CC-537B-F593576AA11D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NNs Learn: Backprop</a:t>
            </a:r>
            <a:r>
              <a:rPr lang="en-US" sz="28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agation</a:t>
            </a: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algorithm</a:t>
            </a:r>
            <a:endParaRPr lang="en-US" sz="2800" noProof="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3F83E60-A72E-DABC-0458-0CCF73198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16013"/>
            <a:ext cx="8839200" cy="357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34209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3D7DA-2991-7F54-D71A-FE8A75C7C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6CEA6557-B0ED-9ED4-5E0E-6DD6AFC7B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7AA43DB-1EB6-09E0-DF67-BB4A88D0965D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B199813-B707-D4BD-C3CF-F829A848F92A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7D25DAB-CBB0-9C36-BB69-C81972655DEA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NNs Learn: Backprop</a:t>
            </a:r>
            <a:r>
              <a:rPr lang="en-US" sz="28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agation</a:t>
            </a: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algorithm</a:t>
            </a:r>
            <a:endParaRPr lang="en-US" sz="2800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7EB712-78AB-7A53-3E9F-48C0D0733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2550"/>
            <a:ext cx="91440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84368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FE137-4546-0CCB-4EBE-00525284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41D8C070-80F2-42BB-250C-E4936A6D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A811FB32-FD97-303F-1DEF-3F238D9FFFB1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465382B-39CB-3AAB-5786-2FD83B7F2E84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909D8BC-0549-4E52-50F8-6C5D29DA495A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NNs Learn: Backprop</a:t>
            </a:r>
            <a:r>
              <a:rPr lang="en-US" sz="28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agation</a:t>
            </a: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algorithm</a:t>
            </a:r>
            <a:endParaRPr lang="en-US" sz="2800" noProof="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F757EAB-3B68-F2BD-3070-87AC1DFFE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76350"/>
            <a:ext cx="81534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5434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</a:t>
            </a: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ANNs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3"/>
          <p:cNvSpPr/>
          <p:nvPr/>
        </p:nvSpPr>
        <p:spPr>
          <a:xfrm>
            <a:off x="536002" y="1008810"/>
            <a:ext cx="7772400" cy="3346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 weights randomly </a:t>
            </a:r>
          </a:p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compute predictions and 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600" noProof="0" dirty="0"/>
          </a:p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Backward pass: propagate error gradients from output to input</a:t>
            </a:r>
            <a:endParaRPr lang="en-US" sz="1600" noProof="0" dirty="0"/>
          </a:p>
          <a:p>
            <a:pPr marL="342900" lvl="1"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chain rule</a:t>
            </a:r>
          </a:p>
          <a:p>
            <a:pPr marL="342900" lvl="1"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passes its gradient to the previous layer, store gradients</a:t>
            </a:r>
            <a:endParaRPr lang="en-US" sz="1600" noProof="0" dirty="0"/>
          </a:p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Update weights</a:t>
            </a:r>
            <a:endParaRPr lang="en-US" sz="1600" b="1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for many iterations (epochs) over the dataset</a:t>
            </a:r>
          </a:p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5. Monitor how training and validation loss look across epochs</a:t>
            </a:r>
            <a:endParaRPr lang="en-US" sz="1600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E44FFC-C9D2-8165-E96E-28ED62F53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033" y="3180575"/>
            <a:ext cx="1777996" cy="4444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6B0B55-9458-3E55-6548-D07459BAD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928" y="2736076"/>
            <a:ext cx="571500" cy="444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E66D07-5458-CB48-4280-A1AA5D15D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6683" y="1011151"/>
            <a:ext cx="952500" cy="393700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4E740113-6644-B3AF-CE36-37FB81752CB8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72E6227-59CB-E4F9-FD91-098016A4F3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" t="25245" r="10907" b="10484"/>
          <a:stretch>
            <a:fillRect/>
          </a:stretch>
        </p:blipFill>
        <p:spPr bwMode="auto">
          <a:xfrm>
            <a:off x="6376536" y="228600"/>
            <a:ext cx="2523623" cy="1582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1C06D-C8A8-0730-5CB1-884CE65B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DF1812-3CFF-B2F9-DE95-94D355CCC337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 and Regularization</a:t>
            </a:r>
            <a:endParaRPr lang="en-US" sz="2800" noProof="0" dirty="0"/>
          </a:p>
        </p:txBody>
      </p:sp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C428489C-6E8E-8695-9482-9B89892FA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E7B1EF5E-968A-9AB8-7842-E9E79FBCCB51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E9A0392-631E-1769-3A37-F10EE8CD9E2C}"/>
              </a:ext>
            </a:extLst>
          </p:cNvPr>
          <p:cNvSpPr/>
          <p:nvPr/>
        </p:nvSpPr>
        <p:spPr>
          <a:xfrm>
            <a:off x="457200" y="4312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Srivastava et al. (2014). Dropout: A Simple Way to Prevent Neural Networks from Overfitting. JMLR.</a:t>
            </a:r>
            <a:endParaRPr lang="en-US" sz="1000" noProof="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CF2368-079A-9DB9-C2FA-68EC3C89F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3" y="1239968"/>
            <a:ext cx="4829109" cy="2655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D37D611A-F99C-6354-727B-B867E927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899" y="1261872"/>
            <a:ext cx="4863628" cy="2655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CED5BB7-711A-DEF1-3C1F-60B43599FD7D}"/>
              </a:ext>
            </a:extLst>
          </p:cNvPr>
          <p:cNvSpPr/>
          <p:nvPr/>
        </p:nvSpPr>
        <p:spPr>
          <a:xfrm>
            <a:off x="7252010" y="2059257"/>
            <a:ext cx="1617670" cy="304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C780817-37D9-6222-A2DD-93BE7548750E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7861870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6071B-7D28-2A1A-1BD7-B24A246F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B86D6C8F-DD3A-98AC-40BE-8A0050215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CAC918F5-A15C-0ECE-10E6-3754C865C861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133DAF-7A58-60E5-61B5-60B236D50542}"/>
              </a:ext>
            </a:extLst>
          </p:cNvPr>
          <p:cNvSpPr/>
          <p:nvPr/>
        </p:nvSpPr>
        <p:spPr>
          <a:xfrm>
            <a:off x="7252010" y="2059257"/>
            <a:ext cx="1617670" cy="304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367C79C-429E-EE5A-160E-41BE44DFC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1908"/>
            <a:ext cx="716280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C673A2F2-10B3-6D2E-63E8-BBB96472F9DC}"/>
              </a:ext>
            </a:extLst>
          </p:cNvPr>
          <p:cNvSpPr/>
          <p:nvPr/>
        </p:nvSpPr>
        <p:spPr>
          <a:xfrm>
            <a:off x="6356531" y="4594860"/>
            <a:ext cx="2543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ML for Env Eng and Sci, P. 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Gentine</a:t>
            </a: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33002709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Framework</a:t>
            </a:r>
            <a:endParaRPr lang="en-US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training neural networks in practice</a:t>
            </a:r>
            <a:endParaRPr lang="en-US" sz="1800" noProof="0" dirty="0"/>
          </a:p>
        </p:txBody>
      </p:sp>
      <p:pic>
        <p:nvPicPr>
          <p:cNvPr id="4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PyTorch: Overview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deep learning framework developed by Meta (Facebook) AI Research.</a:t>
            </a:r>
            <a:endParaRPr lang="en-US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655064"/>
            <a:ext cx="8412480" cy="2547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computation graphs: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graph on-the-fly (eager execution). Easy to debug with standard Python tools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differentiation (</a:t>
            </a:r>
            <a:r>
              <a:rPr lang="en-US" sz="16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computes gradients for backpropagation. No manual calculus needed!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move tensors and models between CPU and GPU with .to(device)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ecosystem: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torchaudio</a:t>
            </a: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torchtext</a:t>
            </a: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PyTorch Lightning, Hugging Face integration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Pythonic:</a:t>
            </a:r>
            <a:endParaRPr lang="en-US" sz="1600" noProof="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NumPy with GPU support and automatic gradients</a:t>
            </a:r>
            <a:endParaRPr lang="en-US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7620000" y="4549140"/>
            <a:ext cx="64366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https://</a:t>
            </a:r>
            <a:r>
              <a:rPr lang="en-US" sz="1000" i="1" noProof="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pytorch.org</a:t>
            </a:r>
            <a:endParaRPr lang="en-US" sz="1000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Tensors and </a:t>
            </a:r>
            <a:r>
              <a:rPr lang="en-US" sz="2800" b="1" noProof="0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Autograd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Tensors</a:t>
            </a:r>
            <a:endParaRPr lang="en-US" sz="18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arrays (like NumPy </a:t>
            </a:r>
            <a:r>
              <a:rPr lang="en-US" sz="1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ndarrays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with GPU support)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torch.tensor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torch.zeros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torch.randn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reshaping, slicing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GPU: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tensor.to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')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tensor.cuda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400" b="1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 err="1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Autograd</a:t>
            </a:r>
            <a:r>
              <a:rPr lang="en-US" sz="1800" b="1" noProof="0" dirty="0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automatic differentiation</a:t>
            </a:r>
            <a:endParaRPr lang="en-US" sz="18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=True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tensors you want gradients for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records all operations in a computational graph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loss.backward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compute all gradients automatically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gradients via 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tensor.grad</a:t>
            </a:r>
            <a:endParaRPr lang="en-US" sz="1400" b="1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arbitrarily complex computation graphs</a:t>
            </a:r>
            <a:endParaRPr lang="en-US" sz="1400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Class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 err="1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torch.utils.data.Dataset</a:t>
            </a:r>
            <a:endParaRPr lang="en-US" sz="1800" noProof="0" dirty="0"/>
          </a:p>
        </p:txBody>
      </p:sp>
      <p:sp>
        <p:nvSpPr>
          <p:cNvPr id="6" name="Text 3"/>
          <p:cNvSpPr/>
          <p:nvPr/>
        </p:nvSpPr>
        <p:spPr>
          <a:xfrm>
            <a:off x="640079" y="1371599"/>
            <a:ext cx="3842273" cy="2259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 that implements 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__()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getitem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__(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b="1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returns the total number of samples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4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getitem</a:t>
            </a:r>
            <a:r>
              <a:rPr lang="en-US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returns one sample (input, target) given an index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loading, preprocessing, and augmentation per sample</a:t>
            </a:r>
            <a:endParaRPr lang="en-US" sz="14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BFA28C-4AF4-2F9F-7099-6FE1DE0CD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63586"/>
            <a:ext cx="4440503" cy="236711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CF654-8382-3797-8331-F005B5BA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1406F3-4276-267E-3605-C0B3328D8D03}"/>
              </a:ext>
            </a:extLst>
          </p:cNvPr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DataLoaders</a:t>
            </a:r>
            <a:endParaRPr lang="en-US" sz="2800" noProof="0" dirty="0"/>
          </a:p>
        </p:txBody>
      </p:sp>
      <p:pic>
        <p:nvPicPr>
          <p:cNvPr id="3" name="Image 0" descr="/home/claude/nsf_leap_logo.png">
            <a:extLst>
              <a:ext uri="{FF2B5EF4-FFF2-40B4-BE49-F238E27FC236}">
                <a16:creationId xmlns:a16="http://schemas.microsoft.com/office/drawing/2014/main" id="{54620CB8-4F8A-9D77-FE05-71100D318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97B0D12E-05EC-248C-C8EB-4E864BCA3AB5}"/>
              </a:ext>
            </a:extLst>
          </p:cNvPr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827867E-9B3E-312F-4FD7-D432A0CCE12E}"/>
              </a:ext>
            </a:extLst>
          </p:cNvPr>
          <p:cNvSpPr/>
          <p:nvPr/>
        </p:nvSpPr>
        <p:spPr>
          <a:xfrm>
            <a:off x="457200" y="109862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noProof="0" dirty="0" err="1">
                <a:solidFill>
                  <a:srgbClr val="2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torch.utils.data.DataLoader</a:t>
            </a:r>
            <a:endParaRPr lang="en-US" sz="18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BE46A59-3E03-9188-FC90-A2A09A76D9EA}"/>
              </a:ext>
            </a:extLst>
          </p:cNvPr>
          <p:cNvSpPr/>
          <p:nvPr/>
        </p:nvSpPr>
        <p:spPr>
          <a:xfrm>
            <a:off x="640080" y="1464385"/>
            <a:ext cx="7772400" cy="15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Dataset and provides batching, shuffling, and parallel loading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arguments: </a:t>
            </a:r>
            <a:r>
              <a:rPr lang="en-US" sz="1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batch_size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shuffle, </a:t>
            </a:r>
            <a:r>
              <a:rPr lang="en-US" sz="1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num_workers</a:t>
            </a: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pin_memory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memory-efficient loading of large datasets</a:t>
            </a:r>
            <a:endParaRPr lang="en-U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creates mini-batches for training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noProof="0" dirty="0"/>
              <a:t>In this </a:t>
            </a:r>
            <a:r>
              <a:rPr lang="en-US" sz="1400" b="1" noProof="0" dirty="0"/>
              <a:t>example both </a:t>
            </a:r>
            <a:r>
              <a:rPr lang="en-US" sz="1400" b="1" noProof="0" dirty="0" err="1"/>
              <a:t>training_data</a:t>
            </a:r>
            <a:r>
              <a:rPr lang="en-US" sz="1400" b="1" noProof="0" dirty="0"/>
              <a:t> and </a:t>
            </a:r>
            <a:r>
              <a:rPr lang="en-US" sz="1400" b="1" noProof="0" dirty="0" err="1"/>
              <a:t>test_data</a:t>
            </a:r>
            <a:r>
              <a:rPr lang="en-US" sz="1400" b="1" noProof="0" dirty="0"/>
              <a:t> are instances/objects of a Dataset class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25B157-2EB4-3E71-0918-BF3B879B1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99777"/>
            <a:ext cx="7772400" cy="10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427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Neural Network in PyTorch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model by subclassing </a:t>
            </a:r>
            <a:r>
              <a:rPr lang="en-US" sz="1500" i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torch.nn.Module</a:t>
            </a:r>
            <a:r>
              <a:rPr lang="en-US" sz="1500" i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777240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MyANN(nn.Module):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self.layer1 = nn.Linear(10, 64)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self.layer2 = nn.Linear(64, 32)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self.output = nn.Linear(32, 1)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self.relu = nn.ReLU()</a:t>
            </a:r>
            <a:endParaRPr lang="en-US" sz="1300" noProof="1"/>
          </a:p>
          <a:p>
            <a:pPr marL="0" indent="0" algn="l">
              <a:buNone/>
            </a:pP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self.relu(self.layer1(x))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self.relu(self.layer2(x))</a:t>
            </a:r>
            <a:endParaRPr lang="en-US" sz="1300" noProof="1"/>
          </a:p>
          <a:p>
            <a:pPr marL="0" indent="0" algn="l">
              <a:buNone/>
            </a:pPr>
            <a:r>
              <a:rPr lang="en-US" sz="13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self.output(x)</a:t>
            </a:r>
            <a:endParaRPr lang="en-US" sz="1300" noProof="1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Training Loop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7772400" cy="30175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MyANN().to(device)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torch.optim.Adam(model.parameters(), lr=1e-3)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 = nn.MSELoss()</a:t>
            </a:r>
            <a:endParaRPr lang="en-US" sz="1200" noProof="1"/>
          </a:p>
          <a:p>
            <a:pPr marL="0" indent="0" algn="l">
              <a:buNone/>
            </a:pP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range(num_epochs):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batch_x, batch_y in train_loader: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batch_x = batch_x.to(device)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batch_y = batch_y.to(device)</a:t>
            </a:r>
            <a:endParaRPr lang="en-US" sz="1200" noProof="1"/>
          </a:p>
          <a:p>
            <a:pPr marL="0" indent="0" algn="l">
              <a:buNone/>
            </a:pP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 = model(batch_x)        # Forward pass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 = criterion(pred, batch_y) # Compute loss</a:t>
            </a:r>
            <a:endParaRPr lang="en-US" sz="1200" noProof="1"/>
          </a:p>
          <a:p>
            <a:pPr marL="0" indent="0" algn="l">
              <a:buNone/>
            </a:pP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b="1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Clear old gradients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b="1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Perform Backpropagation</a:t>
            </a:r>
            <a:endParaRPr lang="en-US" sz="1200" noProof="1"/>
          </a:p>
          <a:p>
            <a:pPr marL="0" indent="0" algn="l">
              <a:buNone/>
            </a:pP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b="1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r>
              <a:rPr lang="en-US" sz="1200" noProof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# Update weights</a:t>
            </a:r>
            <a:endParaRPr lang="en-US" sz="1200" noProof="1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steps per iteration: forward pass → loss → </a:t>
            </a:r>
            <a:r>
              <a:rPr lang="en-US" sz="1400" b="1" noProof="0" dirty="0" err="1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</a:t>
            </a:r>
            <a:r>
              <a:rPr lang="en-US" sz="1400" b="1" noProof="0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backward → step</a:t>
            </a:r>
            <a:endParaRPr lang="en-US" sz="1400" noProof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Optimizers, Callbacks, and Device Handling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optimizers:</a:t>
            </a:r>
            <a:endParaRPr lang="en-US" sz="1600" noProof="1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torch.optim.SGD, Adam, AdamW, RMSprop, LBFGS</a:t>
            </a:r>
            <a:endParaRPr lang="en-US" sz="16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schedulers (callbacks):</a:t>
            </a:r>
            <a:endParaRPr lang="en-US" sz="1600" noProof="1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StepLR: decay lr every N epochs</a:t>
            </a:r>
            <a:endParaRPr lang="en-US" sz="1600" noProof="1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ReduceLROnPlateau: reduce lr when validation loss plateaus</a:t>
            </a:r>
            <a:endParaRPr lang="en-US" sz="1600" noProof="1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CosineAnnealingLR: smooth cyclic lr schedule</a:t>
            </a:r>
            <a:endParaRPr lang="en-US" sz="16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handling:</a:t>
            </a:r>
            <a:endParaRPr lang="en-US" sz="1600" noProof="1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= torch.device('cuda' if torch.cuda.is_available() else 'cpu')</a:t>
            </a:r>
            <a:endParaRPr lang="en-US" sz="1600" noProof="1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model.to(device) and data.to(device) move computation to GPU</a:t>
            </a:r>
            <a:endParaRPr lang="en-US" sz="1600" noProof="1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Multi-GPU: torch.nn.DataParallel or DistributedDataParallel</a:t>
            </a:r>
            <a:endParaRPr lang="en-US" sz="1600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3FAA3-433A-17B3-5041-A99678B20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028" y="1165195"/>
            <a:ext cx="2587734" cy="7188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D53097-D1F8-699A-6EED-6B186613BC4C}"/>
              </a:ext>
            </a:extLst>
          </p:cNvPr>
          <p:cNvSpPr/>
          <p:nvPr/>
        </p:nvSpPr>
        <p:spPr>
          <a:xfrm>
            <a:off x="7157989" y="1355437"/>
            <a:ext cx="275063" cy="329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1: Key Takeaways</a:t>
            </a:r>
            <a:endParaRPr lang="en-US" sz="2800" noProof="0" dirty="0"/>
          </a:p>
        </p:txBody>
      </p:sp>
      <p:pic>
        <p:nvPicPr>
          <p:cNvPr id="3" name="Image 0" descr="/home/claude/nsf_l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164592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4828032"/>
            <a:ext cx="6858000" cy="0"/>
          </a:xfrm>
          <a:prstGeom prst="line">
            <a:avLst/>
          </a:prstGeom>
          <a:noFill/>
          <a:ln w="9525">
            <a:solidFill>
              <a:srgbClr val="2A8C8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772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patterns from data to generalize to unseen examples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(regression + classification) requires labeled data (ground truth)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Linear/polynomial regression minimize MSE using gradient descent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tradeoff: balance model complexity vs. generalization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prevents overfitting by reducing model complexity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stack layers of non-linear transformations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efficiently computes gradients via the chain rule</a:t>
            </a:r>
            <a:endParaRPr lang="en-US" sz="16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provides tensors + </a:t>
            </a:r>
            <a:r>
              <a:rPr lang="en-US" sz="1600" b="1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r>
              <a:rPr lang="en-US" sz="16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flexible model building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3255</TotalTime>
  <Words>4194</Words>
  <Application>Microsoft Macintosh PowerPoint</Application>
  <PresentationFormat>On-screen Show (16:9)</PresentationFormat>
  <Paragraphs>557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Arial</vt:lpstr>
      <vt:lpstr>Arial Black</vt:lpstr>
      <vt:lpstr>Avenir</vt:lpstr>
      <vt:lpstr>Avenir Book</vt:lpstr>
      <vt:lpstr>Calibri</vt:lpstr>
      <vt:lpstr>Cambria Math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parameters identify different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Introduction to Machine Learning and Neural Networks</dc:title>
  <dc:subject>PptxGenJS Presentation</dc:subject>
  <dc:creator>LEAP Summer Bootcamp</dc:creator>
  <cp:lastModifiedBy>ga2673</cp:lastModifiedBy>
  <cp:revision>68</cp:revision>
  <dcterms:created xsi:type="dcterms:W3CDTF">2026-05-12T15:16:46Z</dcterms:created>
  <dcterms:modified xsi:type="dcterms:W3CDTF">2026-06-01T12:57:32Z</dcterms:modified>
</cp:coreProperties>
</file>